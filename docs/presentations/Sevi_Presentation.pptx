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03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0" y="0"/>
            <a:ext cx="36576" cy="514350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5943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600" b="1" i="0">
                <a:solidFill>
                  <a:srgbClr val="F5B800"/>
                </a:solidFill>
                <a:latin typeface="Trebuchet MS"/>
              </a:rPr>
              <a:t>SEVI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31720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Trebuchet MS"/>
              </a:rPr>
              <a:t>CvSU Virtual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907792"/>
            <a:ext cx="5852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A5D6A7"/>
                </a:solidFill>
                <a:latin typeface="Calibri"/>
              </a:rPr>
              <a:t>An Intelligent Chatbot System for Cavite State University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429000"/>
            <a:ext cx="4114800" cy="3657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10972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5D6A7"/>
                </a:solidFill>
                <a:latin typeface="Calibri"/>
              </a:rPr>
              <a:t>Developed for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463040"/>
            <a:ext cx="22860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5B800"/>
                </a:solidFill>
                <a:latin typeface="Trebuchet MS"/>
              </a:rPr>
              <a:t>CvSU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1031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Cavite State University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2651760"/>
            <a:ext cx="1920240" cy="27432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74320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A5D6A7"/>
                </a:solidFill>
                <a:latin typeface="Calibri"/>
              </a:rPr>
              <a:t>"Iskolar para sa Bayan!"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6634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1C784"/>
                </a:solidFill>
                <a:latin typeface="Calibri"/>
              </a:rPr>
              <a:t>May 2026  |  AI &amp; Web Development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Trebuchet MS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75488"/>
            <a:ext cx="8503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E7D32"/>
                </a:solidFill>
                <a:latin typeface="Calibri"/>
              </a:rPr>
              <a:t>What we will cover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914400"/>
            <a:ext cx="2011680" cy="347472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024128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5B800"/>
                </a:solidFill>
                <a:latin typeface="Trebuchet MS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1783080"/>
            <a:ext cx="1508760" cy="3657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874519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Trebuchet MS"/>
              </a:rPr>
              <a:t>Project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2514600"/>
            <a:ext cx="1792224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C8E6C9"/>
                </a:solidFill>
                <a:latin typeface="Calibri"/>
              </a:rPr>
              <a:t>Problem statement, goals, and project scope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914400"/>
            <a:ext cx="2011680" cy="3474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1024128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5B800"/>
                </a:solidFill>
                <a:latin typeface="Trebuchet MS"/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24328" y="1783080"/>
            <a:ext cx="1508760" cy="3657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1874519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Trebuchet MS"/>
              </a:rPr>
              <a:t>System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7168" y="2514600"/>
            <a:ext cx="1792224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C8E6C9"/>
                </a:solidFill>
                <a:latin typeface="Calibri"/>
              </a:rPr>
              <a:t>SeviAI backend + SeviWeb frontend breakdown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6280" y="914400"/>
            <a:ext cx="2011680" cy="347472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1024128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5B800"/>
                </a:solidFill>
                <a:latin typeface="Trebuchet MS"/>
              </a:rPr>
              <a:t>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73168" y="1783080"/>
            <a:ext cx="1508760" cy="3657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1874519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Trebuchet MS"/>
              </a:rPr>
              <a:t>Model Performance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008" y="2514600"/>
            <a:ext cx="1792224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C8E6C9"/>
                </a:solidFill>
                <a:latin typeface="Calibri"/>
              </a:rPr>
              <a:t>Accuracy metrics, speed, and training data stats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914400"/>
            <a:ext cx="2011680" cy="3474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59" y="1024128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5B800"/>
                </a:solidFill>
                <a:latin typeface="Trebuchet MS"/>
              </a:rPr>
              <a:t>04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22008" y="1783080"/>
            <a:ext cx="1508760" cy="3657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59" y="1874519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Trebuchet MS"/>
              </a:rPr>
              <a:t>Features &amp; Demo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4848" y="2514600"/>
            <a:ext cx="1792224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C8E6C9"/>
                </a:solidFill>
                <a:latin typeface="Calibri"/>
              </a:rPr>
              <a:t>API capabilities, UI walkthrough, and deployment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E9E9E"/>
                </a:solidFill>
                <a:latin typeface="Calibri"/>
              </a:rPr>
              <a:t>Sevi | CvSU Virtual Assistant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Trebuchet MS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75488"/>
            <a:ext cx="8503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E7D32"/>
                </a:solidFill>
                <a:latin typeface="Calibri"/>
              </a:rPr>
              <a:t>What is Sevi and why it was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4206240" cy="4114800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41248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5C2A"/>
                </a:solidFill>
                <a:latin typeface="Trebuchet MS"/>
              </a:rPr>
              <a:t>The Challenge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1645920" cy="3657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80744"/>
            <a:ext cx="256032" cy="256032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8074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A5C2A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325880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Students struggle to find quick answers
about admissions, fees &amp; enrollment.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093976"/>
            <a:ext cx="256032" cy="256032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093976"/>
            <a:ext cx="25603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A5C2A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39112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Faculty and staff spend time repeatedly
answering the same common questions.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07208"/>
            <a:ext cx="256032" cy="256032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807208"/>
            <a:ext cx="25603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A5C2A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752344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No centralized, 24/7 information system
exists for CvSU inquiries.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20440"/>
            <a:ext cx="256032" cy="256032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520440"/>
            <a:ext cx="25603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A5C2A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465576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Manual processes slow down student
experience and university efficiency.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777240"/>
            <a:ext cx="4114800" cy="411480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0" y="841248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B800"/>
                </a:solidFill>
                <a:latin typeface="Trebuchet MS"/>
              </a:rPr>
              <a:t>The Solution — Sevi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7760" y="1234440"/>
            <a:ext cx="3474720" cy="3657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60" y="1353312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B800"/>
                </a:solidFill>
                <a:latin typeface="Trebuchet MS"/>
              </a:rPr>
              <a:t>AI-Powered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1627632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C8E6C9"/>
                </a:solidFill>
                <a:latin typeface="Calibri"/>
              </a:rPr>
              <a:t>Naive Bayes intent classifier trained
on 227 CvSU-specific patterns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205740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B800"/>
                </a:solidFill>
                <a:latin typeface="Trebuchet MS"/>
              </a:rPr>
              <a:t>Always 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2331720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C8E6C9"/>
                </a:solidFill>
                <a:latin typeface="Calibri"/>
              </a:rPr>
              <a:t>24/7 REST API with &lt;75ms response
time for instant answers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2761488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B800"/>
                </a:solidFill>
                <a:latin typeface="Trebuchet MS"/>
              </a:rPr>
              <a:t>Dual-System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3035808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C8E6C9"/>
                </a:solidFill>
                <a:latin typeface="Calibri"/>
              </a:rPr>
              <a:t>SeviAI Python backend + SeviWeb
React/TypeScript frontend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3465576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B800"/>
                </a:solidFill>
                <a:latin typeface="Trebuchet MS"/>
              </a:rPr>
              <a:t>Production-Ready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3739896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C8E6C9"/>
                </a:solidFill>
                <a:latin typeface="Calibri"/>
              </a:rPr>
              <a:t>Docker deployment, SQLite logging,
and a real-time analytics 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E9E9E"/>
                </a:solidFill>
                <a:latin typeface="Calibri"/>
              </a:rPr>
              <a:t>Sevi | CvSU Virtual Assistant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Trebuchet MS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75488"/>
            <a:ext cx="8503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E7D32"/>
                </a:solidFill>
                <a:latin typeface="Calibri"/>
              </a:rPr>
              <a:t>How SeviAI and SeviWeb work together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3931920" cy="406908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822960"/>
            <a:ext cx="36576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5B800"/>
                </a:solidFill>
                <a:latin typeface="Trebuchet MS"/>
              </a:rPr>
              <a:t>SeviAI  |  Backend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43584"/>
            <a:ext cx="3611880" cy="3200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91440" cy="32918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307592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rebuchet MS"/>
              </a:rPr>
              <a:t>FastAPI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508760"/>
            <a:ext cx="34747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5D6A7"/>
                </a:solidFill>
                <a:latin typeface="Calibri"/>
              </a:rPr>
              <a:t>REST API server · 15+ endpoints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801368"/>
            <a:ext cx="91440" cy="32918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810512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rebuchet MS"/>
              </a:rPr>
              <a:t>Naive Bayes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011680"/>
            <a:ext cx="34747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5D6A7"/>
                </a:solidFill>
                <a:latin typeface="Calibri"/>
              </a:rPr>
              <a:t>Intent classifier · 95.59% accuracy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304288"/>
            <a:ext cx="91440" cy="32918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313432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rebuchet MS"/>
              </a:rPr>
              <a:t>Hybrid Chatbot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514600"/>
            <a:ext cx="34747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5D6A7"/>
                </a:solidFill>
                <a:latin typeface="Calibri"/>
              </a:rPr>
              <a:t>NB + Neural Network fallback layer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807208"/>
            <a:ext cx="91440" cy="32918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2816352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rebuchet MS"/>
              </a:rPr>
              <a:t>SQLite Logger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3017520"/>
            <a:ext cx="34747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5D6A7"/>
                </a:solidFill>
                <a:latin typeface="Calibri"/>
              </a:rPr>
              <a:t>Async chat logging + JSON backups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10128"/>
            <a:ext cx="91440" cy="32918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3319272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rebuchet MS"/>
              </a:rPr>
              <a:t>Docker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" y="3520440"/>
            <a:ext cx="34747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5D6A7"/>
                </a:solidFill>
                <a:latin typeface="Calibri"/>
              </a:rPr>
              <a:t>Containerised · production-ready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813048"/>
            <a:ext cx="91440" cy="32918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3822191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rebuchet MS"/>
              </a:rPr>
              <a:t>Python 3.11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" y="4023360"/>
            <a:ext cx="34747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5D6A7"/>
                </a:solidFill>
                <a:latin typeface="Calibri"/>
              </a:rPr>
              <a:t>Core runtime environment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60520" y="2404872"/>
            <a:ext cx="914400" cy="4572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983480" y="2295144"/>
            <a:ext cx="219456" cy="256032"/>
          </a:xfrm>
          <a:prstGeom prst="round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0" y="2487168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444444"/>
                </a:solidFill>
                <a:latin typeface="Calibri"/>
              </a:rPr>
              <a:t>HTTP / REST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74920" y="777240"/>
            <a:ext cx="3886200" cy="40690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0" y="822960"/>
            <a:ext cx="36118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5B800"/>
                </a:solidFill>
                <a:latin typeface="Trebuchet MS"/>
              </a:rPr>
              <a:t>SeviWeb  |  Frontend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12080" y="1243584"/>
            <a:ext cx="3566160" cy="3200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12080" y="1298448"/>
            <a:ext cx="91440" cy="32918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76672" y="1307592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rebuchet MS"/>
              </a:rPr>
              <a:t>React 18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76672" y="1508760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5D6A7"/>
                </a:solidFill>
                <a:latin typeface="Calibri"/>
              </a:rPr>
              <a:t>Component-based UI framework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12080" y="1801368"/>
            <a:ext cx="91440" cy="32918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76672" y="1810512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rebuchet MS"/>
              </a:rPr>
              <a:t>TypeScript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76672" y="2011680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5D6A7"/>
                </a:solidFill>
                <a:latin typeface="Calibri"/>
              </a:rPr>
              <a:t>Type-safe development · better DX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12080" y="2304288"/>
            <a:ext cx="91440" cy="32918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76672" y="2313432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rebuchet MS"/>
              </a:rPr>
              <a:t>Vite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76672" y="2514600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5D6A7"/>
                </a:solidFill>
                <a:latin typeface="Calibri"/>
              </a:rPr>
              <a:t>Lightning-fast build toolchain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12080" y="2807208"/>
            <a:ext cx="91440" cy="32918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76672" y="2816352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rebuchet MS"/>
              </a:rPr>
              <a:t>Tailwind CSS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76672" y="3017520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5D6A7"/>
                </a:solidFill>
                <a:latin typeface="Calibri"/>
              </a:rPr>
              <a:t>Utility-first responsive styling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12080" y="3310128"/>
            <a:ext cx="91440" cy="32918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76672" y="3319272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rebuchet MS"/>
              </a:rPr>
              <a:t>Radix UI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76672" y="3520440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5D6A7"/>
                </a:solidFill>
                <a:latin typeface="Calibri"/>
              </a:rPr>
              <a:t>Accessible component primitives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12080" y="3813048"/>
            <a:ext cx="91440" cy="32918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76672" y="3822191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rebuchet MS"/>
              </a:rPr>
              <a:t>Recharts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76672" y="4023360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5D6A7"/>
                </a:solidFill>
                <a:latin typeface="Calibri"/>
              </a:rPr>
              <a:t>Data visualisation for analytics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E9E9E"/>
                </a:solidFill>
                <a:latin typeface="Calibri"/>
              </a:rPr>
              <a:t>Sevi | CvSU Virtual Assistant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Trebuchet MS"/>
              </a:rPr>
              <a:t>AI / ML Core — Naive Bayes Classifier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75488"/>
            <a:ext cx="8503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E7D32"/>
                </a:solidFill>
                <a:latin typeface="Calibri"/>
              </a:rPr>
              <a:t>How Sevi understands and responds to student queries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4114800" cy="4114800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5C2A"/>
                </a:solidFill>
                <a:latin typeface="Trebuchet MS"/>
              </a:rPr>
              <a:t>How It Works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3474720" cy="3657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61872"/>
            <a:ext cx="347472" cy="347472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6187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5B800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271016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5C2A"/>
                </a:solidFill>
                <a:latin typeface="Trebuchet MS"/>
              </a:rPr>
              <a:t>Student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481328"/>
            <a:ext cx="3383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  <a:latin typeface="Calibri"/>
              </a:rPr>
              <a:t>Message received via REST API /chat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618488"/>
            <a:ext cx="164592" cy="14630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1764792"/>
            <a:ext cx="347472" cy="347472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76479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5B800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1773936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5C2A"/>
                </a:solidFill>
                <a:latin typeface="Trebuchet MS"/>
              </a:rPr>
              <a:t>Text 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1984248"/>
            <a:ext cx="3383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  <a:latin typeface="Calibri"/>
              </a:rPr>
              <a:t>Tokenise, lowercase, remove stop words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121408"/>
            <a:ext cx="164592" cy="14630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2267712"/>
            <a:ext cx="347472" cy="347472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226771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5B800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276856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5C2A"/>
                </a:solidFill>
                <a:latin typeface="Trebuchet MS"/>
              </a:rPr>
              <a:t>TF-IDF Vectorise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2487168"/>
            <a:ext cx="3383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  <a:latin typeface="Calibri"/>
              </a:rPr>
              <a:t>Convert text to feature vector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624328"/>
            <a:ext cx="164592" cy="14630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2770632"/>
            <a:ext cx="347472" cy="347472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277063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5B800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2779776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5C2A"/>
                </a:solidFill>
                <a:latin typeface="Trebuchet MS"/>
              </a:rPr>
              <a:t>NB Classification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2990088"/>
            <a:ext cx="3383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  <a:latin typeface="Calibri"/>
              </a:rPr>
              <a:t>Predict intent with 95.59% accuracy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127248"/>
            <a:ext cx="164592" cy="14630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" y="3273552"/>
            <a:ext cx="347472" cy="347472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327355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5B800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3282696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5C2A"/>
                </a:solidFill>
                <a:latin typeface="Trebuchet MS"/>
              </a:rPr>
              <a:t>Response Lookup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3493008"/>
            <a:ext cx="3383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  <a:latin typeface="Calibri"/>
              </a:rPr>
              <a:t>Match intent → curated response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630168"/>
            <a:ext cx="164592" cy="14630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1480" y="3776472"/>
            <a:ext cx="347472" cy="347472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377647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5B800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3785615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5C2A"/>
                </a:solidFill>
                <a:latin typeface="Trebuchet MS"/>
              </a:rPr>
              <a:t>Return Answer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3995928"/>
            <a:ext cx="3383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  <a:latin typeface="Calibri"/>
              </a:rPr>
              <a:t>JSON response in &lt;75 ms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63440" y="777240"/>
            <a:ext cx="4251960" cy="411480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46320" y="822960"/>
            <a:ext cx="3931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B800"/>
                </a:solidFill>
                <a:latin typeface="Trebuchet MS"/>
              </a:rPr>
              <a:t>Training Data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46320" y="1188720"/>
            <a:ext cx="3749039" cy="3657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846320" y="1280160"/>
            <a:ext cx="3886200" cy="566928"/>
          </a:xfrm>
          <a:prstGeom prst="rect">
            <a:avLst/>
          </a:prstGeom>
          <a:solidFill>
            <a:srgbClr val="144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92040" y="1307592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5B800"/>
                </a:solidFill>
                <a:latin typeface="Trebuchet MS"/>
              </a:rPr>
              <a:t>227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1426463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Training Patterns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46320" y="1938528"/>
            <a:ext cx="3886200" cy="566928"/>
          </a:xfrm>
          <a:prstGeom prst="rect">
            <a:avLst/>
          </a:prstGeom>
          <a:solidFill>
            <a:srgbClr val="144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92040" y="196596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5B800"/>
                </a:solidFill>
                <a:latin typeface="Trebuchet MS"/>
              </a:rPr>
              <a:t>23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208483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Intent Categories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46320" y="2596896"/>
            <a:ext cx="3886200" cy="566928"/>
          </a:xfrm>
          <a:prstGeom prst="rect">
            <a:avLst/>
          </a:prstGeom>
          <a:solidFill>
            <a:srgbClr val="144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92040" y="2624327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5B800"/>
                </a:solidFill>
                <a:latin typeface="Trebuchet MS"/>
              </a:rPr>
              <a:t>79 KB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5080" y="27432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Model File Size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46320" y="3255264"/>
            <a:ext cx="3886200" cy="566928"/>
          </a:xfrm>
          <a:prstGeom prst="rect">
            <a:avLst/>
          </a:prstGeom>
          <a:solidFill>
            <a:srgbClr val="144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92040" y="3282696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5B800"/>
                </a:solidFill>
                <a:latin typeface="Trebuchet MS"/>
              </a:rPr>
              <a:t>8 sec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5080" y="34015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Training Time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46320" y="4315968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A5D6A7"/>
                </a:solidFill>
                <a:latin typeface="Calibri"/>
              </a:rPr>
              <a:t>Model: CvSU_classifier.pkl  |  Responses: responses_map.json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E9E9E"/>
                </a:solidFill>
                <a:latin typeface="Calibri"/>
              </a:rPr>
              <a:t>Sevi | CvSU Virtual Assistant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C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5B800"/>
                </a:solidFill>
                <a:latin typeface="Trebuchet MS"/>
              </a:rPr>
              <a:t>Model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8412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A5D6A7"/>
                </a:solidFill>
                <a:latin typeface="Calibri"/>
              </a:rPr>
              <a:t>Production-ready metrics for the Naive Bayes intent classifier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8412480" cy="3657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1188720"/>
            <a:ext cx="2011680" cy="1737360"/>
          </a:xfrm>
          <a:prstGeom prst="rect">
            <a:avLst/>
          </a:prstGeom>
          <a:solidFill>
            <a:srgbClr val="123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61872"/>
            <a:ext cx="1828800" cy="9555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5B800"/>
                </a:solidFill>
                <a:latin typeface="Trebuchet MS"/>
              </a:rPr>
              <a:t>95.59%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196388"/>
            <a:ext cx="1828800" cy="6601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C8E6C9"/>
                </a:solidFill>
                <a:latin typeface="Calibri"/>
              </a:rPr>
              <a:t>Training Accuracy</a:t>
            </a:r>
          </a:p>
        </p:txBody>
      </p:sp>
      <p:sp>
        <p:nvSpPr>
          <p:cNvPr id="8" name="Rectangle 7"/>
          <p:cNvSpPr/>
          <p:nvPr/>
        </p:nvSpPr>
        <p:spPr>
          <a:xfrm>
            <a:off x="2487168" y="1188720"/>
            <a:ext cx="2011680" cy="1737360"/>
          </a:xfrm>
          <a:prstGeom prst="rect">
            <a:avLst/>
          </a:prstGeom>
          <a:solidFill>
            <a:srgbClr val="123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78608" y="1261872"/>
            <a:ext cx="1828800" cy="9555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5B800"/>
                </a:solidFill>
                <a:latin typeface="Trebuchet MS"/>
              </a:rPr>
              <a:t>&lt;75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8608" y="2196388"/>
            <a:ext cx="1828800" cy="6601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C8E6C9"/>
                </a:solidFill>
                <a:latin typeface="Calibri"/>
              </a:rPr>
              <a:t>Response 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45736" y="1188720"/>
            <a:ext cx="2011680" cy="1737360"/>
          </a:xfrm>
          <a:prstGeom prst="rect">
            <a:avLst/>
          </a:prstGeom>
          <a:solidFill>
            <a:srgbClr val="123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37176" y="1261872"/>
            <a:ext cx="1828800" cy="9555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5B800"/>
                </a:solidFill>
                <a:latin typeface="Trebuchet MS"/>
              </a:rPr>
              <a:t>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37176" y="2196388"/>
            <a:ext cx="1828800" cy="6601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C8E6C9"/>
                </a:solidFill>
                <a:latin typeface="Calibri"/>
              </a:rPr>
              <a:t>Intent Categories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04304" y="1188720"/>
            <a:ext cx="2011680" cy="1737360"/>
          </a:xfrm>
          <a:prstGeom prst="rect">
            <a:avLst/>
          </a:prstGeom>
          <a:solidFill>
            <a:srgbClr val="123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95744" y="1261872"/>
            <a:ext cx="1828800" cy="9555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5B800"/>
                </a:solidFill>
                <a:latin typeface="Trebuchet MS"/>
              </a:rPr>
              <a:t>227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95744" y="2196388"/>
            <a:ext cx="1828800" cy="6601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C8E6C9"/>
                </a:solidFill>
                <a:latin typeface="Calibri"/>
              </a:rPr>
              <a:t>Training Patterns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4290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B800"/>
                </a:solidFill>
                <a:latin typeface="Trebuchet MS"/>
              </a:rPr>
              <a:t>Intent Accuracy Highlights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3849624"/>
            <a:ext cx="5029200" cy="155448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822191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Admissions Requirements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3822191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5B800"/>
                </a:solidFill>
                <a:latin typeface="Calibri"/>
              </a:rPr>
              <a:t>100%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4050791"/>
            <a:ext cx="5029200" cy="155448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023359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Tuition Fees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4023359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5B800"/>
                </a:solidFill>
                <a:latin typeface="Calibri"/>
              </a:rPr>
              <a:t>100%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0" y="4251960"/>
            <a:ext cx="4878324" cy="15544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4224528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Courses Offered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67244" y="422452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5B800"/>
                </a:solidFill>
                <a:latin typeface="Calibri"/>
              </a:rPr>
              <a:t>97%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4453128"/>
            <a:ext cx="4777740" cy="15544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4425696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Greeting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66660" y="4425696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5B800"/>
                </a:solidFill>
                <a:latin typeface="Calibri"/>
              </a:rPr>
              <a:t>95%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4654296"/>
            <a:ext cx="4677156" cy="15544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626864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Scholarship Info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66076" y="462686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5B800"/>
                </a:solidFill>
                <a:latin typeface="Calibri"/>
              </a:rPr>
              <a:t>93%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4CAF50"/>
                </a:solidFill>
                <a:latin typeface="Calibri"/>
              </a:rPr>
              <a:t>Sevi | CvSU Virtual Assistant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Trebuchet MS"/>
              </a:rP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75488"/>
            <a:ext cx="8503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E7D32"/>
                </a:solidFill>
                <a:latin typeface="Calibri"/>
              </a:rPr>
              <a:t>What Sevi brings to Cavite State University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749808"/>
            <a:ext cx="2743200" cy="1600200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859536"/>
            <a:ext cx="384048" cy="384048"/>
          </a:xfrm>
          <a:prstGeom prst="ellipse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68680"/>
            <a:ext cx="384048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5B800"/>
                </a:solidFill>
                <a:latin typeface="Calibri"/>
              </a:rPr>
              <a:t>NB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859536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5C2A"/>
                </a:solidFill>
                <a:latin typeface="Trebuchet MS"/>
              </a:rPr>
              <a:t>Naive Bayes Classifier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252728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Fast, lightweight intent classification with 95.59% accuracy on CvSU-specific queries.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27248" y="749808"/>
            <a:ext cx="2743200" cy="1600200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64408" y="859536"/>
            <a:ext cx="384048" cy="384048"/>
          </a:xfrm>
          <a:prstGeom prst="ellipse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64408" y="868680"/>
            <a:ext cx="384048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5B800"/>
                </a:solidFill>
                <a:latin typeface="Calibri"/>
              </a:rPr>
              <a:t>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8" y="859536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5C2A"/>
                </a:solidFill>
                <a:latin typeface="Trebuchet MS"/>
              </a:rPr>
              <a:t>15+ REST API Endpoints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64408" y="1252728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Full FastAPI backend with /chat, /health, /logs, and Swagger UI documentation.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749808"/>
            <a:ext cx="2743200" cy="1600200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172200" y="859536"/>
            <a:ext cx="384048" cy="384048"/>
          </a:xfrm>
          <a:prstGeom prst="ellipse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868680"/>
            <a:ext cx="384048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5B800"/>
                </a:solidFill>
                <a:latin typeface="Calibri"/>
              </a:rPr>
              <a:t>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859536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5C2A"/>
                </a:solidFill>
                <a:latin typeface="Trebuchet MS"/>
              </a:rPr>
              <a:t>Chat Logging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1252728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Async logging to SQLite with daily JSON backups. Never lose a student query.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2514600"/>
            <a:ext cx="2743200" cy="1600200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5760" y="2624328"/>
            <a:ext cx="384048" cy="384048"/>
          </a:xfrm>
          <a:prstGeom prst="ellipse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2633472"/>
            <a:ext cx="384048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5B800"/>
                </a:solidFill>
                <a:latin typeface="Calibri"/>
              </a:rPr>
              <a:t>DSH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2624328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5C2A"/>
                </a:solidFill>
                <a:latin typeface="Trebuchet MS"/>
              </a:rPr>
              <a:t>Analytics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017520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Real-time web dashboard showing query trends, top intents, and system health.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27248" y="2514600"/>
            <a:ext cx="2743200" cy="1600200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264408" y="2624328"/>
            <a:ext cx="384048" cy="384048"/>
          </a:xfrm>
          <a:prstGeom prst="ellipse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64408" y="2633472"/>
            <a:ext cx="384048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5B800"/>
                </a:solidFill>
                <a:latin typeface="Calibri"/>
              </a:rPr>
              <a:t>WEB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21608" y="2624328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5C2A"/>
                </a:solidFill>
                <a:latin typeface="Trebuchet MS"/>
              </a:rPr>
              <a:t>Web Chat Interface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64408" y="3017520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Responsive chat UI (SeviWeb) built with React 18 + TypeScript + Tailwind CSS.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0" y="2514600"/>
            <a:ext cx="2743200" cy="1600200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172200" y="2624328"/>
            <a:ext cx="384048" cy="384048"/>
          </a:xfrm>
          <a:prstGeom prst="ellipse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72200" y="2633472"/>
            <a:ext cx="384048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5B800"/>
                </a:solidFill>
                <a:latin typeface="Calibri"/>
              </a:rPr>
              <a:t>DOC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2624328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5C2A"/>
                </a:solidFill>
                <a:latin typeface="Trebuchet MS"/>
              </a:rPr>
              <a:t>Docker Deployment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3017520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One-command docker-compose deployment for production environments.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E9E9E"/>
                </a:solidFill>
                <a:latin typeface="Calibri"/>
              </a:rPr>
              <a:t>Sevi | CvSU Virtual Assistant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Trebuchet MS"/>
              </a:rPr>
              <a:t>REST API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75488"/>
            <a:ext cx="8503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E7D32"/>
                </a:solidFill>
                <a:latin typeface="Calibri"/>
              </a:rPr>
              <a:t>15+ endpoints powering Sevi's backend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749808"/>
            <a:ext cx="5029200" cy="416052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B800"/>
                </a:solidFill>
                <a:latin typeface="Trebuchet MS"/>
              </a:rPr>
              <a:t>Core API Endpoints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70432"/>
            <a:ext cx="4663440" cy="3657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43584"/>
            <a:ext cx="658368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43584"/>
            <a:ext cx="6583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25272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/chat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7168" y="1280160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5D6A7"/>
                </a:solidFill>
                <a:latin typeface="Calibri"/>
              </a:rPr>
              <a:t>Send message, get AI response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618488"/>
            <a:ext cx="658368" cy="274320"/>
          </a:xfrm>
          <a:prstGeom prst="rect">
            <a:avLst/>
          </a:prstGeom>
          <a:solidFill>
            <a:srgbClr val="C8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618488"/>
            <a:ext cx="6583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23D14"/>
                </a:solidFill>
                <a:latin typeface="Calibri"/>
              </a:rPr>
              <a:t>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162763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/health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87168" y="1655064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5D6A7"/>
                </a:solidFill>
                <a:latin typeface="Calibri"/>
              </a:rPr>
              <a:t>System health check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993392"/>
            <a:ext cx="658368" cy="274320"/>
          </a:xfrm>
          <a:prstGeom prst="rect">
            <a:avLst/>
          </a:prstGeom>
          <a:solidFill>
            <a:srgbClr val="C8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1993392"/>
            <a:ext cx="6583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23D14"/>
                </a:solidFill>
                <a:latin typeface="Calibri"/>
              </a:rPr>
              <a:t>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2002536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/logs/today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87168" y="2029968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5D6A7"/>
                </a:solidFill>
                <a:latin typeface="Calibri"/>
              </a:rPr>
              <a:t>Today's query statistics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368296"/>
            <a:ext cx="658368" cy="274320"/>
          </a:xfrm>
          <a:prstGeom prst="rect">
            <a:avLst/>
          </a:prstGeom>
          <a:solidFill>
            <a:srgbClr val="C8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368296"/>
            <a:ext cx="6583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23D14"/>
                </a:solidFill>
                <a:latin typeface="Calibri"/>
              </a:rPr>
              <a:t>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2377439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/logs/history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87168" y="240487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5D6A7"/>
                </a:solidFill>
                <a:latin typeface="Calibri"/>
              </a:rPr>
              <a:t>Full chat history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743200"/>
            <a:ext cx="658368" cy="274320"/>
          </a:xfrm>
          <a:prstGeom prst="rect">
            <a:avLst/>
          </a:prstGeom>
          <a:solidFill>
            <a:srgbClr val="C8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2743200"/>
            <a:ext cx="6583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23D14"/>
                </a:solidFill>
                <a:latin typeface="Calibri"/>
              </a:rPr>
              <a:t>GET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" y="2752344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/logs/stats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87168" y="2779776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5D6A7"/>
                </a:solidFill>
                <a:latin typeface="Calibri"/>
              </a:rPr>
              <a:t>Aggregate intent analytics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118104"/>
            <a:ext cx="658368" cy="274320"/>
          </a:xfrm>
          <a:prstGeom prst="rect">
            <a:avLst/>
          </a:prstGeom>
          <a:solidFill>
            <a:srgbClr val="C8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3118104"/>
            <a:ext cx="6583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23D14"/>
                </a:solidFill>
                <a:latin typeface="Calibri"/>
              </a:rPr>
              <a:t>GET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" y="312724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/intents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87168" y="3154680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5D6A7"/>
                </a:solidFill>
                <a:latin typeface="Calibri"/>
              </a:rPr>
              <a:t>List all 23 intent categories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493008"/>
            <a:ext cx="658368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3493008"/>
            <a:ext cx="6583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9848" y="350215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/train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87168" y="3529584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5D6A7"/>
                </a:solidFill>
                <a:latin typeface="Calibri"/>
              </a:rPr>
              <a:t>Trigger model retraining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867911"/>
            <a:ext cx="658368" cy="274320"/>
          </a:xfrm>
          <a:prstGeom prst="rect">
            <a:avLst/>
          </a:prstGeom>
          <a:solidFill>
            <a:srgbClr val="C8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3867911"/>
            <a:ext cx="6583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23D14"/>
                </a:solidFill>
                <a:latin typeface="Calibri"/>
              </a:rPr>
              <a:t>GET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848" y="3877055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/docs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87168" y="3904487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5D6A7"/>
                </a:solidFill>
                <a:latin typeface="Calibri"/>
              </a:rPr>
              <a:t>Swagger UI documentation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0" y="749808"/>
            <a:ext cx="3429000" cy="4160520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23560" y="804672"/>
            <a:ext cx="3154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5C2A"/>
                </a:solidFill>
                <a:latin typeface="Trebuchet MS"/>
              </a:rPr>
              <a:t>Built With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23560" y="1170432"/>
            <a:ext cx="3017520" cy="3657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623560" y="1234440"/>
            <a:ext cx="73152" cy="41148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60720" y="1234440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5C2A"/>
                </a:solidFill>
                <a:latin typeface="Trebuchet MS"/>
              </a:rPr>
              <a:t>FastAPI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60720" y="1490472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  <a:latin typeface="Calibri"/>
              </a:rPr>
              <a:t>Async Python framework for
high-performance APIs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23560" y="1819656"/>
            <a:ext cx="73152" cy="41148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60720" y="18196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5C2A"/>
                </a:solidFill>
                <a:latin typeface="Trebuchet MS"/>
              </a:rPr>
              <a:t>Swagger UI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60720" y="2075688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  <a:latin typeface="Calibri"/>
              </a:rPr>
              <a:t>Auto-generated interactive
API documentation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23560" y="2404872"/>
            <a:ext cx="73152" cy="41148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760720" y="240487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5C2A"/>
                </a:solidFill>
                <a:latin typeface="Trebuchet MS"/>
              </a:rPr>
              <a:t>Pydantic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60720" y="2660904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  <a:latin typeface="Calibri"/>
              </a:rPr>
              <a:t>Request/response validation
and type enforcement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23560" y="2990088"/>
            <a:ext cx="73152" cy="41148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760720" y="2990088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5C2A"/>
                </a:solidFill>
                <a:latin typeface="Trebuchet MS"/>
              </a:rPr>
              <a:t>Uvicorn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60720" y="3246120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  <a:latin typeface="Calibri"/>
              </a:rPr>
              <a:t>ASGI server for production
deployment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623560" y="3575304"/>
            <a:ext cx="73152" cy="41148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760720" y="3575304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5C2A"/>
                </a:solidFill>
                <a:latin typeface="Trebuchet MS"/>
              </a:rPr>
              <a:t>SQLite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60720" y="3831336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  <a:latin typeface="Calibri"/>
              </a:rPr>
              <a:t>Async chat log storage
with daily JSON export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E9E9E"/>
                </a:solidFill>
                <a:latin typeface="Calibri"/>
              </a:rPr>
              <a:t>Sevi | CvSU Virtual Assistant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Trebuchet MS"/>
              </a:rPr>
              <a:t>SeviWeb — Frontend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75488"/>
            <a:ext cx="8503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E7D32"/>
                </a:solidFill>
                <a:latin typeface="Calibri"/>
              </a:rPr>
              <a:t>React + TypeScript web application for students and staff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1323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5C2A"/>
                </a:solidFill>
                <a:latin typeface="Trebuchet MS"/>
              </a:rPr>
              <a:t>Tech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1051560" cy="475488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1024128"/>
            <a:ext cx="9784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5B800"/>
                </a:solidFill>
                <a:latin typeface="Trebuchet MS"/>
              </a:rPr>
              <a:t>React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" y="1243584"/>
            <a:ext cx="9784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A5D6A7"/>
                </a:solidFill>
                <a:latin typeface="Calibri"/>
              </a:rPr>
              <a:t>Component UI</a:t>
            </a:r>
          </a:p>
        </p:txBody>
      </p:sp>
      <p:sp>
        <p:nvSpPr>
          <p:cNvPr id="9" name="Rectangle 8"/>
          <p:cNvSpPr/>
          <p:nvPr/>
        </p:nvSpPr>
        <p:spPr>
          <a:xfrm>
            <a:off x="1389888" y="1005840"/>
            <a:ext cx="1051560" cy="475488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26464" y="1024128"/>
            <a:ext cx="9784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5B800"/>
                </a:solidFill>
                <a:latin typeface="Trebuchet MS"/>
              </a:rPr>
              <a:t>TypeScript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6464" y="1243584"/>
            <a:ext cx="9784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A5D6A7"/>
                </a:solidFill>
                <a:latin typeface="Calibri"/>
              </a:rPr>
              <a:t>Type Safety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05456" y="1005840"/>
            <a:ext cx="1051560" cy="475488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42032" y="1024128"/>
            <a:ext cx="9784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5B800"/>
                </a:solidFill>
                <a:latin typeface="Trebuchet MS"/>
              </a:rPr>
              <a:t>Vite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2032" y="1243584"/>
            <a:ext cx="9784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A5D6A7"/>
                </a:solidFill>
                <a:latin typeface="Calibri"/>
              </a:rPr>
              <a:t>Build Tool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21024" y="1005840"/>
            <a:ext cx="1051560" cy="475488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1024128"/>
            <a:ext cx="9784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5B800"/>
                </a:solidFill>
                <a:latin typeface="Trebuchet MS"/>
              </a:rPr>
              <a:t>Tailwind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1243584"/>
            <a:ext cx="9784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A5D6A7"/>
                </a:solidFill>
                <a:latin typeface="Calibri"/>
              </a:rPr>
              <a:t>Styling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36592" y="1005840"/>
            <a:ext cx="1051560" cy="475488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73168" y="1024128"/>
            <a:ext cx="9784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5B800"/>
                </a:solidFill>
                <a:latin typeface="Trebuchet MS"/>
              </a:rPr>
              <a:t>Radix 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73168" y="1243584"/>
            <a:ext cx="9784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A5D6A7"/>
                </a:solidFill>
                <a:latin typeface="Calibri"/>
              </a:rPr>
              <a:t>Components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59" y="1005840"/>
            <a:ext cx="1051560" cy="475488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88736" y="1024128"/>
            <a:ext cx="9784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5B800"/>
                </a:solidFill>
                <a:latin typeface="Trebuchet MS"/>
              </a:rPr>
              <a:t>Recharts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88736" y="1243584"/>
            <a:ext cx="9784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A5D6A7"/>
                </a:solidFill>
                <a:latin typeface="Calibri"/>
              </a:rPr>
              <a:t>Charts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67728" y="1005840"/>
            <a:ext cx="1051560" cy="475488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04304" y="1024128"/>
            <a:ext cx="9784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5B800"/>
                </a:solidFill>
                <a:latin typeface="Trebuchet MS"/>
              </a:rPr>
              <a:t>Vitest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1243584"/>
            <a:ext cx="9784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A5D6A7"/>
                </a:solidFill>
                <a:latin typeface="Calibri"/>
              </a:rPr>
              <a:t>Testing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1627632"/>
            <a:ext cx="8686800" cy="3657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1691640"/>
            <a:ext cx="8229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5C2A"/>
                </a:solidFill>
                <a:latin typeface="Trebuchet MS"/>
              </a:rPr>
              <a:t>Interface Features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2084831"/>
            <a:ext cx="2743200" cy="1170432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28600" y="2084831"/>
            <a:ext cx="73152" cy="1170432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3192" y="2157984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5C2A"/>
                </a:solidFill>
                <a:latin typeface="Trebuchet MS"/>
              </a:rPr>
              <a:t>Chat UI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" y="2468879"/>
            <a:ext cx="246888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  <a:latin typeface="Calibri"/>
              </a:rPr>
              <a:t>Real-time chat interface for interacting with Sevi's AI backend via REST API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3383279"/>
            <a:ext cx="2743200" cy="1170432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8600" y="3383279"/>
            <a:ext cx="73152" cy="1170432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3192" y="3456432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5C2A"/>
                </a:solidFill>
                <a:latin typeface="Trebuchet MS"/>
              </a:rPr>
              <a:t>Logs Dashboard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" y="3767328"/>
            <a:ext cx="246888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  <a:latin typeface="Calibri"/>
              </a:rPr>
              <a:t>Analytics view with query trends, intent distribution, and response time graphs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27248" y="2084831"/>
            <a:ext cx="2743200" cy="1170432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127248" y="2084831"/>
            <a:ext cx="73152" cy="1170432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91840" y="2157984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5C2A"/>
                </a:solidFill>
                <a:latin typeface="Trebuchet MS"/>
              </a:rPr>
              <a:t>Responsive Design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40" y="2468879"/>
            <a:ext cx="246888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  <a:latin typeface="Calibri"/>
              </a:rPr>
              <a:t>Mobile-first layout using Tailwind CSS — works on any device or screen size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27248" y="3383279"/>
            <a:ext cx="2743200" cy="1170432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127248" y="3383279"/>
            <a:ext cx="73152" cy="1170432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91840" y="3456432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5C2A"/>
                </a:solidFill>
                <a:latin typeface="Trebuchet MS"/>
              </a:rPr>
              <a:t>Dark/Light Theme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91840" y="3767328"/>
            <a:ext cx="246888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  <a:latin typeface="Calibri"/>
              </a:rPr>
              <a:t>Theme switching powered by next-themes for user comfort and accessibility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35040" y="2084831"/>
            <a:ext cx="2743200" cy="1170432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035040" y="2084831"/>
            <a:ext cx="73152" cy="1170432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99631" y="2157984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5C2A"/>
                </a:solidFill>
                <a:latin typeface="Trebuchet MS"/>
              </a:rPr>
              <a:t>Type-Safe API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99631" y="2468879"/>
            <a:ext cx="246888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  <a:latin typeface="Calibri"/>
              </a:rPr>
              <a:t>All backend calls typed end-to-end with TypeScript + Zod validation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35040" y="3383279"/>
            <a:ext cx="2743200" cy="1170432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035040" y="3383279"/>
            <a:ext cx="73152" cy="1170432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99631" y="3456432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5C2A"/>
                </a:solidFill>
                <a:latin typeface="Trebuchet MS"/>
              </a:rPr>
              <a:t>Test Coverage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99631" y="3767328"/>
            <a:ext cx="246888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  <a:latin typeface="Calibri"/>
              </a:rPr>
              <a:t>Vitest unit tests with @testing-library/react for component reliability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E9E9E"/>
                </a:solidFill>
                <a:latin typeface="Calibri"/>
              </a:rPr>
              <a:t>Sevi | CvSU Virtual Assistant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Trebuchet MS"/>
              </a:rPr>
              <a:t>Deployment &amp;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75488"/>
            <a:ext cx="8503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E7D32"/>
                </a:solidFill>
                <a:latin typeface="Calibri"/>
              </a:rPr>
              <a:t>How to run Sevi in production or development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749808"/>
            <a:ext cx="4251960" cy="320040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B800"/>
                </a:solidFill>
                <a:latin typeface="Trebuchet MS"/>
              </a:rPr>
              <a:t>Option A — Docker (Recommended)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A5D6A7"/>
                </a:solidFill>
                <a:latin typeface="Calibri"/>
              </a:rPr>
              <a:t>Single command to spin up the full stack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481328"/>
            <a:ext cx="3749039" cy="3657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627632"/>
            <a:ext cx="237744" cy="23774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627632"/>
            <a:ext cx="2377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5C2A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572768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onsolas"/>
              </a:rPr>
              <a:t>docker-compose -f deployment/docker-compose.yml up -d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048256"/>
            <a:ext cx="237744" cy="23774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048256"/>
            <a:ext cx="2377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5C2A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1993392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onsolas"/>
              </a:rPr>
              <a:t>Open http://localhost:8000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468880"/>
            <a:ext cx="237744" cy="23774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46888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5C2A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2414016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onsolas"/>
              </a:rPr>
              <a:t>Visit /docs for Swagger API reference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889504"/>
            <a:ext cx="237744" cy="23774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2889504"/>
            <a:ext cx="2377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5C2A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2834640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onsolas"/>
              </a:rPr>
              <a:t>Chat UI available at web/web_interface.html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00600" y="749808"/>
            <a:ext cx="4251960" cy="3200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83480" y="804672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B800"/>
                </a:solidFill>
                <a:latin typeface="Trebuchet MS"/>
              </a:rPr>
              <a:t>Option B — Local Development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118872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A5D6A7"/>
                </a:solidFill>
                <a:latin typeface="Calibri"/>
              </a:rPr>
              <a:t>Run API and frontend separately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83480" y="1481328"/>
            <a:ext cx="3749039" cy="3657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3480" y="1627632"/>
            <a:ext cx="237744" cy="23774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83480" y="1627632"/>
            <a:ext cx="2377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5C2A"/>
                </a:solidFill>
                <a:latin typeface="Calibr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76088" y="1572768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onsolas"/>
              </a:rPr>
              <a:t>pip install -r deployment/requirements_minimal.txt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2048256"/>
            <a:ext cx="237744" cy="23774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83480" y="2048256"/>
            <a:ext cx="2377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5C2A"/>
                </a:solidFill>
                <a:latin typeface="Calibr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76088" y="1993392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onsolas"/>
              </a:rPr>
              <a:t>python -m uvicorn api.app:app --port 8000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83480" y="2468880"/>
            <a:ext cx="237744" cy="23774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83480" y="246888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5C2A"/>
                </a:solidFill>
                <a:latin typeface="Calibr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76088" y="2414016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onsolas"/>
              </a:rPr>
              <a:t>cd SeviWeb &amp;&amp; npm install &amp;&amp; npm run dev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2889504"/>
            <a:ext cx="237744" cy="23774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83480" y="2889504"/>
            <a:ext cx="2377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5C2A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76088" y="2834640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onsolas"/>
              </a:rPr>
              <a:t>Open http://localhost:5173 (Vite dev server)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4005072"/>
            <a:ext cx="8686800" cy="3657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4050791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5C2A"/>
                </a:solidFill>
                <a:latin typeface="Trebuchet MS"/>
              </a:rPr>
              <a:t>Monitoring &amp; Ops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" y="4370832"/>
            <a:ext cx="2103120" cy="548640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8328" y="4398264"/>
            <a:ext cx="187451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A5C2A"/>
                </a:solidFill>
                <a:latin typeface="Trebuchet MS"/>
              </a:rPr>
              <a:t>Chat Logs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8328" y="4626864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Calibri"/>
              </a:rPr>
              <a:t>SQLite DB + JSON daily backups · /logs/today endpoint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441448" y="4370832"/>
            <a:ext cx="2103120" cy="548640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51176" y="4398264"/>
            <a:ext cx="187451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A5C2A"/>
                </a:solidFill>
                <a:latin typeface="Trebuchet MS"/>
              </a:rPr>
              <a:t>Health Check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51176" y="4626864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Calibri"/>
              </a:rPr>
              <a:t>GET /health returns system status + model load time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654296" y="4370832"/>
            <a:ext cx="2103120" cy="548640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64024" y="4398264"/>
            <a:ext cx="187451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A5C2A"/>
                </a:solidFill>
                <a:latin typeface="Trebuchet MS"/>
              </a:rPr>
              <a:t>Analytics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64024" y="4626864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Calibri"/>
              </a:rPr>
              <a:t>logs_dashboard.html · real-time intent &amp; query metrics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67144" y="4370832"/>
            <a:ext cx="2103120" cy="548640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76872" y="4398264"/>
            <a:ext cx="187451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A5C2A"/>
                </a:solidFill>
                <a:latin typeface="Trebuchet MS"/>
              </a:rPr>
              <a:t>Retraining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76872" y="4626864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Calibri"/>
              </a:rPr>
              <a:t>python training/train_naive_bayes.py  (8 seconds)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E9E9E"/>
                </a:solidFill>
                <a:latin typeface="Calibri"/>
              </a:rPr>
              <a:t>Sevi | CvSU Virtual Assistant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Trebuchet MS"/>
              </a:rPr>
              <a:t>Roadmap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75488"/>
            <a:ext cx="8503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E7D32"/>
                </a:solidFill>
                <a:latin typeface="Calibri"/>
              </a:rPr>
              <a:t>What's done and what comes next for Sevi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749808"/>
            <a:ext cx="4069080" cy="416052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B800"/>
                </a:solidFill>
                <a:latin typeface="Trebuchet MS"/>
              </a:rPr>
              <a:t>✅  Completed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3703320" cy="3657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16736"/>
            <a:ext cx="237744" cy="23774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16736"/>
            <a:ext cx="2377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5C2A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280160"/>
            <a:ext cx="3520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Naive Bayes model — 95.59% accuracy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737360"/>
            <a:ext cx="237744" cy="23774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73736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5C2A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700784"/>
            <a:ext cx="3520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REST API — 15+ endpoints (FastAPI)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157984"/>
            <a:ext cx="237744" cy="23774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157984"/>
            <a:ext cx="2377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5C2A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121408"/>
            <a:ext cx="3520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Chat Logging — SQLite + JSON backups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578608"/>
            <a:ext cx="237744" cy="23774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578608"/>
            <a:ext cx="2377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5C2A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2542032"/>
            <a:ext cx="3520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Analytics Dashboard — real-time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999232"/>
            <a:ext cx="237744" cy="23774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999232"/>
            <a:ext cx="2377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5C2A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2962656"/>
            <a:ext cx="3520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Web UI — SeviWeb (React + TypeScript)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419856"/>
            <a:ext cx="237744" cy="23774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419856"/>
            <a:ext cx="2377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5C2A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3383280"/>
            <a:ext cx="3520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Docker — production-ready deployment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840480"/>
            <a:ext cx="237744" cy="23774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84048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5C2A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3803904"/>
            <a:ext cx="3520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Comprehensive documentation &amp; guides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26280" y="749808"/>
            <a:ext cx="4389120" cy="41605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0" y="804672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B800"/>
                </a:solidFill>
                <a:latin typeface="Trebuchet MS"/>
              </a:rPr>
              <a:t>🔜  Next Steps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63440" y="1188720"/>
            <a:ext cx="4023360" cy="3657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663440" y="1261872"/>
            <a:ext cx="73152" cy="50292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91456" y="1271016"/>
            <a:ext cx="397763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B800"/>
                </a:solidFill>
                <a:latin typeface="Trebuchet MS"/>
              </a:rPr>
              <a:t>Neural Network Integration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91456" y="1517904"/>
            <a:ext cx="3977639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C8E6C9"/>
                </a:solidFill>
                <a:latin typeface="Calibri"/>
              </a:rPr>
              <a:t>Hybrid NB + NN classifier when TensorFlow
supports Python 3.11+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63440" y="1856231"/>
            <a:ext cx="73152" cy="50292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91456" y="1865375"/>
            <a:ext cx="397763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B800"/>
                </a:solidFill>
                <a:latin typeface="Trebuchet MS"/>
              </a:rPr>
              <a:t>Expanded Intent Coverage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91456" y="2112263"/>
            <a:ext cx="3977639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C8E6C9"/>
                </a:solidFill>
                <a:latin typeface="Calibri"/>
              </a:rPr>
              <a:t>Grow from 23 → 50+ intent categories for
broader university topics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63440" y="2450591"/>
            <a:ext cx="73152" cy="50292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91456" y="2459735"/>
            <a:ext cx="397763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B800"/>
                </a:solidFill>
                <a:latin typeface="Trebuchet MS"/>
              </a:rPr>
              <a:t>Admin Portal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91456" y="2706624"/>
            <a:ext cx="3977639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C8E6C9"/>
                </a:solidFill>
                <a:latin typeface="Calibri"/>
              </a:rPr>
              <a:t>Web dashboard for faculty to manage
intents and view analytics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63440" y="3044952"/>
            <a:ext cx="73152" cy="50292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91456" y="3054096"/>
            <a:ext cx="397763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B800"/>
                </a:solidFill>
                <a:latin typeface="Trebuchet MS"/>
              </a:rPr>
              <a:t>Multilingual Support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91456" y="3300984"/>
            <a:ext cx="3977639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C8E6C9"/>
                </a:solidFill>
                <a:latin typeface="Calibri"/>
              </a:rPr>
              <a:t>Add Filipino (Tagalog) language support
for broader student reach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63440" y="3639312"/>
            <a:ext cx="73152" cy="50292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91456" y="3648456"/>
            <a:ext cx="397763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B800"/>
                </a:solidFill>
                <a:latin typeface="Trebuchet MS"/>
              </a:rPr>
              <a:t>Mobile App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91456" y="3895344"/>
            <a:ext cx="3977639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C8E6C9"/>
                </a:solidFill>
                <a:latin typeface="Calibri"/>
              </a:rPr>
              <a:t>React Native or PWA version for
student smartphones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E9E9E"/>
                </a:solidFill>
                <a:latin typeface="Calibri"/>
              </a:rPr>
              <a:t>Sevi | CvSU Virtual Assistant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03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0" y="0"/>
            <a:ext cx="36576" cy="514350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5943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000" b="1" i="0">
                <a:solidFill>
                  <a:srgbClr val="F5B800"/>
                </a:solidFill>
                <a:latin typeface="Trebuchet MS"/>
              </a:rPr>
              <a:t>Thank You!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4114800" cy="4572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55648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Trebuchet MS"/>
              </a:rPr>
              <a:t>Questions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31720"/>
            <a:ext cx="56692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A5D6A7"/>
                </a:solidFill>
                <a:latin typeface="Calibri"/>
              </a:rPr>
              <a:t>We're excited to hear your feedback and answer any questions
about Sevi – CvSU Virtual Assistant.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200400"/>
            <a:ext cx="1234440" cy="868680"/>
          </a:xfrm>
          <a:prstGeom prst="rect">
            <a:avLst/>
          </a:prstGeom>
          <a:solidFill>
            <a:srgbClr val="123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36976"/>
            <a:ext cx="11430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5B800"/>
                </a:solidFill>
                <a:latin typeface="Trebuchet MS"/>
              </a:rPr>
              <a:t>95.59%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94176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Accuracy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92808" y="3200400"/>
            <a:ext cx="1234440" cy="868680"/>
          </a:xfrm>
          <a:prstGeom prst="rect">
            <a:avLst/>
          </a:prstGeom>
          <a:solidFill>
            <a:srgbClr val="123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38528" y="3236976"/>
            <a:ext cx="11430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5B800"/>
                </a:solidFill>
                <a:latin typeface="Trebuchet MS"/>
              </a:rPr>
              <a:t>&lt;75ms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38528" y="3694176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Response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82696" y="3200400"/>
            <a:ext cx="1234440" cy="868680"/>
          </a:xfrm>
          <a:prstGeom prst="rect">
            <a:avLst/>
          </a:prstGeom>
          <a:solidFill>
            <a:srgbClr val="123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28415" y="3236976"/>
            <a:ext cx="11430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5B800"/>
                </a:solidFill>
                <a:latin typeface="Trebuchet MS"/>
              </a:rPr>
              <a:t>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28415" y="3694176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Intents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72584" y="3200400"/>
            <a:ext cx="1234440" cy="868680"/>
          </a:xfrm>
          <a:prstGeom prst="rect">
            <a:avLst/>
          </a:prstGeom>
          <a:solidFill>
            <a:srgbClr val="123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18304" y="3236976"/>
            <a:ext cx="11430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5B800"/>
                </a:solidFill>
                <a:latin typeface="Trebuchet MS"/>
              </a:rPr>
              <a:t>15+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8304" y="3694176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Endpoints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663440"/>
            <a:ext cx="5943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1C784"/>
                </a:solidFill>
                <a:latin typeface="Calibri"/>
              </a:rPr>
              <a:t>Sevi | CvSU Virtual Assistant  |  May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1005840"/>
            <a:ext cx="2286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5D6A7"/>
                </a:solidFill>
                <a:latin typeface="Calibri"/>
              </a:rPr>
              <a:t>Project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1325880"/>
            <a:ext cx="22860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F5B800"/>
                </a:solidFill>
                <a:latin typeface="Trebuchet MS"/>
              </a:rPr>
              <a:t>Sevi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03720" y="2029968"/>
            <a:ext cx="1920240" cy="3657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21031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CvSU Virtual Assistant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2523744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A5D6A7"/>
                </a:solidFill>
                <a:latin typeface="Calibri"/>
              </a:rPr>
              <a:t>Cavite State University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2880360"/>
            <a:ext cx="2286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A5D6A7"/>
                </a:solidFill>
                <a:latin typeface="Calibri"/>
              </a:rPr>
              <a:t>"Iskolar para sa Bayan!"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