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Calibri"/>
              </a:rPr>
              <a:t>OFFICE OF THE VP FOR ADMINISTRATIVE &amp; SUPPORT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F5B800"/>
                </a:solidFill>
                <a:latin typeface="Trebuchet MS"/>
              </a:rPr>
              <a:t>Sevi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Trebuchet MS"/>
              </a:rPr>
              <a:t>CvSU Virtual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45059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  <a:latin typeface="Calibri"/>
              </a:rPr>
              <a:t>Executive Overview — Current Status &amp; Strategic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944368"/>
            <a:ext cx="384048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3127248"/>
            <a:ext cx="1993392" cy="91440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8211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5B800"/>
                </a:solidFill>
                <a:latin typeface="Trebuchet MS"/>
              </a:rPr>
              <a:t>95.59%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39312"/>
            <a:ext cx="190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7752" y="3127248"/>
            <a:ext cx="1993392" cy="91440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318211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5B800"/>
                </a:solidFill>
                <a:latin typeface="Trebuchet MS"/>
              </a:rPr>
              <a:t>&lt;75ms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3639312"/>
            <a:ext cx="190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4024" y="3127248"/>
            <a:ext cx="1993392" cy="91440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318211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5B800"/>
                </a:solidFill>
                <a:latin typeface="Trebuchet MS"/>
              </a:rPr>
              <a:t>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3639312"/>
            <a:ext cx="190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Availability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0296" y="3127248"/>
            <a:ext cx="1993392" cy="91440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6016" y="318211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5B800"/>
                </a:solidFill>
                <a:latin typeface="Trebuchet MS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3639312"/>
            <a:ext cx="190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Intent Topics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00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AAD6E"/>
                </a:solidFill>
                <a:latin typeface="Calibri"/>
              </a:rPr>
              <a:t>Prepared for: John Xavier B. Nepomuceno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6400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4632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Three things every decision-maker needs to know about Sevi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2788920" cy="393192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005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B800"/>
                </a:solidFill>
                <a:latin typeface="Trebuchet M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508760"/>
            <a:ext cx="23774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591056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Sevi is live and production-ready.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212848"/>
            <a:ext cx="25603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A fully functioning AI chatbot answering CvSU student and staff inquiries 24 hours a day — built, tested, and deployed by the university's own development team.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914400"/>
            <a:ext cx="2788920" cy="3931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005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B800"/>
                </a:solidFill>
                <a:latin typeface="Trebuchet MS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508760"/>
            <a:ext cx="237744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591056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It delivers measurable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212848"/>
            <a:ext cx="25603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95.59% answer accuracy. Sub-75-millisecond response time. Covers 23 inquiry topics including admissions, tuition, enrollment, and scholarships.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914400"/>
            <a:ext cx="2788920" cy="393192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005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B800"/>
                </a:solidFill>
                <a:latin typeface="Trebuchet MS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1928" y="1508760"/>
            <a:ext cx="23774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1591056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It is ready for university-wide endorsement.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212848"/>
            <a:ext cx="25603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The system runs on standard university infrastructure, requires no ongoing licensing fees, and is fully documented for handover to IT operations.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E9E9E"/>
                </a:solidFill>
                <a:latin typeface="Calibri"/>
              </a:rPr>
              <a:t>Sevi | CvSU Virtual Assistant  |  Confidential —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The Challenge Sevi Was Built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4632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A persistent administrative burden on CvSU students and staff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4937760" cy="406908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41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Trebuchet MS"/>
              </a:rPr>
              <a:t>Before Sevi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88720"/>
            <a:ext cx="43891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335024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3502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16736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High Volume of Repetitive Inquiries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36192"/>
            <a:ext cx="4343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Students constantly ask the same questions about admissions, fees, and enrollment — consuming significant staff time and resources.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01168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1168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93392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No 24/7 Information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12848"/>
            <a:ext cx="4343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Outside office hours, students receive no support, leading to delays in critical decision-making during application and enrollment periods.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88336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68833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70048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Inconsistent Information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89503"/>
            <a:ext cx="4343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Verbal or ad-hoc responses can vary between staff members, creating confusion and potential errors in student guidance.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364991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364991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46703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Operational Inefficiency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66159"/>
            <a:ext cx="4343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Administrative personnel spend disproportionate time on basic FAQs instead of high-value student services.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777240"/>
            <a:ext cx="3520440" cy="40690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8412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B800"/>
                </a:solidFill>
                <a:latin typeface="Trebuchet MS"/>
              </a:rPr>
              <a:t>The Impact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1188720"/>
            <a:ext cx="32461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32120" y="1298448"/>
            <a:ext cx="54864" cy="5486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50992" y="132588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Staff Overload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992" y="157276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Hours lost daily answering basic student questions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1984248"/>
            <a:ext cx="54864" cy="5486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50992" y="2011679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Student Frustration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0992" y="225856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Long wait times for simple information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2120" y="2670048"/>
            <a:ext cx="54864" cy="5486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50992" y="2697479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Missed Opportunities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50992" y="294436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Staff diverted from higher-impact academic support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3355848"/>
            <a:ext cx="54864" cy="5486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50992" y="3383279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No Data Insights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363016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No visibility into what students most frequently ask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E9E9E"/>
                </a:solidFill>
                <a:latin typeface="Calibri"/>
              </a:rPr>
              <a:t>Sevi | CvSU Virtual Assistant  |  Confidential —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What Sevi Delivers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4632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Current capabilities as of 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2743200" cy="16002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73152" cy="16002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841247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Instant Student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225295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Answers questions about admissions, tuition fees, enrollment procedures, scholarship programs, and more — in under 75 milliseconds.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7248" y="749808"/>
            <a:ext cx="2743200" cy="16002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27248" y="749808"/>
            <a:ext cx="73152" cy="16002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841247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24/7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225295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Always on. Students get accurate answers any time of day or night, during peak enrollment periods and beyond.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749808"/>
            <a:ext cx="2743200" cy="16002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749808"/>
            <a:ext cx="73152" cy="16002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841247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23 Inquiry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1225295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Covers the full range of common CvSU inquiries across academic, financial, and administrative topics.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560320"/>
            <a:ext cx="2743200" cy="16002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560320"/>
            <a:ext cx="73152" cy="16002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651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Automated Chat Logging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3035808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Every conversation is automatically recorded, giving administration data on the most common student concerns.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8" y="2560320"/>
            <a:ext cx="2743200" cy="16002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27248" y="2560320"/>
            <a:ext cx="73152" cy="16002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651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Analytics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035808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Real-time visibility into query trends, peak usage times, and topics that need more information resources.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560320"/>
            <a:ext cx="2743200" cy="16002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2560320"/>
            <a:ext cx="73152" cy="16002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1" y="2651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Web Chat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1" y="3035808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A clean, modern chat interface accessible from any browser or device — mobile, tablet, or desktop.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E9E9E"/>
                </a:solidFill>
                <a:latin typeface="Calibri"/>
              </a:rPr>
              <a:t>Sevi | CvSU Virtual Assistant  |  Confidential —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B800"/>
                </a:solidFill>
                <a:latin typeface="Trebuchet MS"/>
              </a:rPr>
              <a:t>Performance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  <a:latin typeface="Calibri"/>
              </a:rPr>
              <a:t>Key metrics demonstrating Sevi's production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2057400" cy="19659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95.59%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6596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buchet MS"/>
              </a:rPr>
              <a:t>Answer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86000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5D6A7"/>
                </a:solidFill>
                <a:latin typeface="Calibri"/>
              </a:rPr>
              <a:t>Industry-standard benchmark
for chatbot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1115568"/>
            <a:ext cx="2057400" cy="19659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7" y="1170432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&lt;75ms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7" y="196596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buchet MS"/>
              </a:rPr>
              <a:t>Response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7" y="2286000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5D6A7"/>
                </a:solidFill>
                <a:latin typeface="Calibri"/>
              </a:rPr>
              <a:t>Faster than a human
can read the question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0016" y="1115568"/>
            <a:ext cx="2057400" cy="19659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1170432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227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196596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buchet MS"/>
              </a:rPr>
              <a:t>Trained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286000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5D6A7"/>
                </a:solidFill>
                <a:latin typeface="Calibri"/>
              </a:rPr>
              <a:t>Covering real CvSU student
inquiry scenarios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2864" y="1115568"/>
            <a:ext cx="2057400" cy="19659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3" y="1170432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3" y="196596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buchet MS"/>
              </a:rPr>
              <a:t>Uptime Tested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3" y="2286000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5D6A7"/>
                </a:solidFill>
                <a:latin typeface="Calibri"/>
              </a:rPr>
              <a:t>Production-ready with
Docker containerisation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218688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Topic-Level Accuracy (Selected)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3630168"/>
            <a:ext cx="6217920" cy="1828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1188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Admissions Requirements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361188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867911"/>
            <a:ext cx="6217920" cy="1828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849624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Tuition &amp; Fees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384962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4105656"/>
            <a:ext cx="6031382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08736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Courses Offered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4854" y="408736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97%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4343400"/>
            <a:ext cx="5782665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325112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Scholarship Programs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6137" y="432511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93%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4581144"/>
            <a:ext cx="5907024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56285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Enrollment Procedures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456285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95%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4CAF50"/>
                </a:solidFill>
                <a:latin typeface="Calibri"/>
              </a:rPr>
              <a:t>Sevi | CvSU Virtual Assistant  |  Confidential — 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Strategic Value to Cavite State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4632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How Sevi supports the university's administrative and academic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502920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73152" cy="914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321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Reduces Administrative Workload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24712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By handling repetitive student inquiries automatically, staff can focus on complex cases and high-value academic support activities.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01368"/>
            <a:ext cx="502920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801368"/>
            <a:ext cx="73152" cy="914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8562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Improves Student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48840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Students get instant, consistent, and accurate answers — any time, any device. This directly supports student satisfaction and retention.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825496"/>
            <a:ext cx="502920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825496"/>
            <a:ext cx="73152" cy="914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8803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Zero Licensing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172968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Sevi is entirely built in-house using open-source technology. There are no subscription fees, vendor contracts, or recurring software costs.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849624"/>
            <a:ext cx="502920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849624"/>
            <a:ext cx="73152" cy="914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904487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Data-Driven Administration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197096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Automatic logging of every query gives management real insight into what students actually need — enabling smarter resource allocation.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777240"/>
            <a:ext cx="3429000" cy="40690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84124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A5D6A7"/>
                </a:solidFill>
                <a:latin typeface="Calibri"/>
              </a:rPr>
              <a:t>Aligned With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1115568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B800"/>
                </a:solidFill>
                <a:latin typeface="Trebuchet MS"/>
              </a:rPr>
              <a:t>CvSU Mission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1691640"/>
            <a:ext cx="31089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23560" y="182880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792224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Quality service delivery
to all CvSU stakeholders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2514600"/>
            <a:ext cx="237744" cy="23774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2478024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Technology-driven
academic excellence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60" y="320040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3163824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Efficient use of
university resources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3886200"/>
            <a:ext cx="237744" cy="23774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3849624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"Iskolar para sa Bayan"
— accessible support for 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E9E9E"/>
                </a:solidFill>
                <a:latin typeface="Calibri"/>
              </a:rPr>
              <a:t>Sevi | CvSU Virtual Assistant  |  Confidential —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Current Status — As of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4632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System is production-ready and awaiting formal university endorsement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868680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1371600" cy="56692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A5D6A7"/>
                </a:solidFill>
                <a:latin typeface="Calibri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841248"/>
            <a:ext cx="70408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5C2A"/>
                </a:solidFill>
                <a:latin typeface="Calibri"/>
              </a:rPr>
              <a:t>Sevi is fully operational, tested, and deployable across CvSU. The development team has completed all core features and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44752"/>
            <a:ext cx="4206240" cy="340156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99616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  <a:latin typeface="Trebuchet MS"/>
              </a:rPr>
              <a:t>Completed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388620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975104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97510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956816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AI Model — 95.59% accuracy (Naive Bayes)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95728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395728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377440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REST API — 15+ functional endpoints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16352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1635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798064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Chat Logging — SQLite + daily backups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36976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23697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218688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Analytics Dashboard — real-time metrics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6576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39312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Web Interface — responsive chat 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78224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07822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9936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Docker Deployment — production-ready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98848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498848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80560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Full Technical Documentation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1444752"/>
            <a:ext cx="4206240" cy="3401568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1499616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5C2A"/>
                </a:solidFill>
                <a:latin typeface="Trebuchet MS"/>
              </a:rPr>
              <a:t>Planned Enhancements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1828800"/>
            <a:ext cx="37947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1920240"/>
            <a:ext cx="54864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4336" y="1938528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Neural Network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219456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Enhanced AI for complex queries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523744"/>
            <a:ext cx="54864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74336" y="254203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50+ Intent Categories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79806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Expanded topic coverage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3127248"/>
            <a:ext cx="54864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74336" y="3145536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Admin Management Portal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74336" y="340156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Faculty-managed responses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730752"/>
            <a:ext cx="54864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74336" y="3749039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Filipino Language Support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74336" y="400507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Serving more students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334256"/>
            <a:ext cx="54864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74336" y="435254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Mobile Application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74336" y="460857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PWA for student smartphones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E9E9E"/>
                </a:solidFill>
                <a:latin typeface="Calibri"/>
              </a:rPr>
              <a:t>Sevi | CvSU Virtual Assistant  |  Confidential — May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B800"/>
                </a:solidFill>
                <a:latin typeface="Trebuchet MS"/>
              </a:rPr>
              <a:t>Recommended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13232"/>
            <a:ext cx="5943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  <a:latin typeface="Calibri"/>
              </a:rPr>
              <a:t>Three steps to bring Sevi to every CvSU student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566928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170432"/>
            <a:ext cx="5669280" cy="1115568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170432"/>
            <a:ext cx="658368" cy="11155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170432"/>
            <a:ext cx="65836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5B800"/>
                </a:solidFill>
                <a:latin typeface="Trebuchet M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8016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  <a:latin typeface="Trebuchet MS"/>
              </a:rPr>
              <a:t>Endorse University-Wide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20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Grant formal approval to deploy Sevi as CvSU's official virtual assistant, accessible via the university website and student portals.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404872"/>
            <a:ext cx="5669280" cy="1115568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404872"/>
            <a:ext cx="658368" cy="11155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404872"/>
            <a:ext cx="65836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5B800"/>
                </a:solidFill>
                <a:latin typeface="Trebuchet M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51460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  <a:latin typeface="Trebuchet MS"/>
              </a:rPr>
              <a:t>Designate an IT Operations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880360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Assign the ICTO or relevant IT unit as the operational custodian to manage uptime, updates, and ongoing model improvements.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639312"/>
            <a:ext cx="5669280" cy="1115568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3639312"/>
            <a:ext cx="658368" cy="11155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639312"/>
            <a:ext cx="65836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5B800"/>
                </a:solidFill>
                <a:latin typeface="Trebuchet M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4904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  <a:latin typeface="Trebuchet MS"/>
              </a:rPr>
              <a:t>Expand Institutional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114800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Commission the team to expand Sevi's knowledge base to cover all colleges, departments, and administrative offices of CvSU.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170432"/>
            <a:ext cx="2606040" cy="3346704"/>
          </a:xfrm>
          <a:prstGeom prst="rect">
            <a:avLst/>
          </a:prstGeom>
          <a:solidFill>
            <a:srgbClr val="103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170432"/>
            <a:ext cx="36576" cy="334670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261872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A5D6A7"/>
                </a:solidFill>
                <a:latin typeface="Calibri"/>
              </a:rPr>
              <a:t>Project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572768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B800"/>
                </a:solidFill>
                <a:latin typeface="Trebuchet MS"/>
              </a:rPr>
              <a:t>Sevi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2212848"/>
            <a:ext cx="21031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28600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CvSU Virtual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57860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Cavite State University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87121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Development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12724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5D6A7"/>
                </a:solidFill>
                <a:latin typeface="Calibri"/>
              </a:rPr>
              <a:t>May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43814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A5D6A7"/>
                </a:solidFill>
                <a:latin typeface="Calibri"/>
              </a:rPr>
              <a:t>"Iskolar para sa Bayan!"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4CAF50"/>
                </a:solidFill>
                <a:latin typeface="Calibri"/>
              </a:rPr>
              <a:t>Sevi | CvSU Virtual Assistant  |  Confidential —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