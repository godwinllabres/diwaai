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Calibri"/>
              </a:rPr>
              <a:t>OFFICE OF THE VP FOR ADMINISTRATIVE &amp; SUPPORT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800" b="1" i="0">
                <a:solidFill>
                  <a:srgbClr val="F5B800"/>
                </a:solidFill>
                <a:latin typeface="Trebuchet MS"/>
              </a:rPr>
              <a:t>DIWA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2024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Trebuchet MS"/>
              </a:rPr>
              <a:t>Digital Interface Web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5059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Executive Overview — Current Status &amp; Strategic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944368"/>
            <a:ext cx="3840480" cy="457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3127248"/>
            <a:ext cx="1993392" cy="91440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8211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3931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87752" y="3127248"/>
            <a:ext cx="1993392" cy="91440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318211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800"/>
                </a:solidFill>
                <a:latin typeface="Trebuchet MS"/>
              </a:rPr>
              <a:t>&lt;75ms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363931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64024" y="3127248"/>
            <a:ext cx="1993392" cy="91440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318211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800"/>
                </a:solidFill>
                <a:latin typeface="Trebuchet MS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63931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Availability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0296" y="3127248"/>
            <a:ext cx="1993392" cy="91440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3182112"/>
            <a:ext cx="190195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5B800"/>
                </a:solidFill>
                <a:latin typeface="Trebuchet MS"/>
              </a:rPr>
              <a:t>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3639312"/>
            <a:ext cx="190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Intent Topics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8006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AAD6E"/>
                </a:solidFill>
                <a:latin typeface="Calibri"/>
              </a:rPr>
              <a:t>Prepared for: John Xavier B. Nepomuceno  |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6400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Three things every decision-maker needs to know about DIWA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278892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" y="1005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" y="1508760"/>
            <a:ext cx="23774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1591056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DIWA is live and production-ready.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212848"/>
            <a:ext cx="2560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A fully functioning AI chatbot answering CvSU student and staff inquiries 24 hours a day — built, tested, and deployed by the university's own development team.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914400"/>
            <a:ext cx="2788920" cy="393192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005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508760"/>
            <a:ext cx="237744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1591056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It delivers measurable results.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212848"/>
            <a:ext cx="2560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95.59% answer accuracy. Sub-75-millisecond response time. Covers 23 inquiry topics including admissions, tuition, enrollment, and scholarships.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914400"/>
            <a:ext cx="2788920" cy="393192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10058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8" y="1508760"/>
            <a:ext cx="23774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1591056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It is ready for university-wide endorsement.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212848"/>
            <a:ext cx="256032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The system runs on standard university infrastructure, requires no ongoing licensing fees, and is fully documented for handover to IT operations.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DIWA | Digital Interface Web Assistant  |  Confidential — May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The Challenge DIWA Was Built to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A persistent administrative burden on CvSU students and staff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4937760" cy="406908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84124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5C2A"/>
                </a:solidFill>
                <a:latin typeface="Trebuchet MS"/>
              </a:rPr>
              <a:t>Before DIWA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88720"/>
            <a:ext cx="43891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33502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350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316736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High Volume of Repetitive Inquiries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36192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Students constantly ask the same questions about admissions, fees, and enrollment — consuming significant staff time and resources.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01168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0116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93392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No 24/7 Information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212848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Outside office hours, students receive no support, leading to delays in critical decision-making during application and enrollment periods.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8833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68833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Inconsistent Information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9503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Verbal or ad-hoc responses can vary between staff members, creating confusion and potential errors in student guidance.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364991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364991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A5C2A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46703"/>
            <a:ext cx="4343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Operational Inefficiency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566159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Administrative personnel spend disproportionate time on basic FAQs instead of high-value student services.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60" y="777240"/>
            <a:ext cx="3520440" cy="4069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32120" y="8412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  <a:latin typeface="Trebuchet MS"/>
              </a:rPr>
              <a:t>The Impact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32120" y="1188720"/>
            <a:ext cx="32461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2120" y="1298448"/>
            <a:ext cx="54864" cy="5486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50992" y="1325880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Staff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15727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Hours lost daily answering basic student questions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32120" y="1984248"/>
            <a:ext cx="54864" cy="5486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50992" y="201167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Student Frustration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0992" y="22585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Long wait times for simple information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2670048"/>
            <a:ext cx="54864" cy="5486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269747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Missed Opportunities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0992" y="29443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Staff diverted from higher-impact academic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3355848"/>
            <a:ext cx="54864" cy="54864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50992" y="3383279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B800"/>
                </a:solidFill>
                <a:latin typeface="Trebuchet MS"/>
              </a:rPr>
              <a:t>No Data 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50992" y="363016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No visibility into what students most frequently ask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DIWA | Digital Interface Web Assistant  |  Confidential — May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What DIWA Delivers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Current capabilities as of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841247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Instant Student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225295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Answers questions about admissions, tuition fees, enrollment procedures, scholarship programs, and more — in under 75 milliseconds.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127248" y="749808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27248" y="749808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841247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24/7 Availability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225295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Always on. Students get accurate answers any time of day or night, during peak enrollment periods and beyond.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749808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749808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841247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23 Inquiry Categories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1225295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Covers the full range of common CvSU inquiries across academic, financial, and administrative topics.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560320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2560320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Automated Chat Logging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3035808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Every conversation is automatically recorded, giving administration data on the most common student concerns.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8" y="2560320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27248" y="2560320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Analytics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035808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Real-time visibility into query trends, peak usage times, and topics that need more information resources.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2560320"/>
            <a:ext cx="2743200" cy="16002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0" y="2560320"/>
            <a:ext cx="73152" cy="16002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631" y="26517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Web Chat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1" y="3035808"/>
            <a:ext cx="24688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8E6C9"/>
                </a:solidFill>
                <a:latin typeface="Calibri"/>
              </a:rPr>
              <a:t>A clean, modern chat interface accessible from any browser or device — mobile, tablet, or desktop.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DIWA | Digital Interface Web Assistant  |  Confidential — May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Performance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Key metrics demonstrating DIWA's production readiness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841248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15568"/>
            <a:ext cx="2057400" cy="19659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B800"/>
                </a:solidFill>
                <a:latin typeface="Trebuchet MS"/>
              </a:rPr>
              <a:t>95.59%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65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Answer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8600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Calibri"/>
              </a:rPr>
              <a:t>Industry-standard benchmark
for chatbot performance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168" y="1115568"/>
            <a:ext cx="2057400" cy="19659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7" y="1170432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&lt;75ms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7" y="1965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Response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7" y="228600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Calibri"/>
              </a:rPr>
              <a:t>Faster than a human
can read the 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0016" y="1115568"/>
            <a:ext cx="2057400" cy="19659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1170432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227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1965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Trained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28600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Calibri"/>
              </a:rPr>
              <a:t>Covering real CvSU student
inquiry scenarios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12864" y="1115568"/>
            <a:ext cx="2057400" cy="1965960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3" y="1170432"/>
            <a:ext cx="1965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5B800"/>
                </a:solidFill>
                <a:latin typeface="Trebuchet MS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3" y="196596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Trebuchet MS"/>
              </a:rPr>
              <a:t>Uptime Tested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3" y="2286000"/>
            <a:ext cx="19659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A5D6A7"/>
                </a:solidFill>
                <a:latin typeface="Calibri"/>
              </a:rPr>
              <a:t>Production-ready with
Docker containerisation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218688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B800"/>
                </a:solidFill>
                <a:latin typeface="Trebuchet MS"/>
              </a:rPr>
              <a:t>Topic-Level Accuracy (Selected)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3630168"/>
            <a:ext cx="6217920" cy="1828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11880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Admissions Requirements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361188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100%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3867911"/>
            <a:ext cx="6217920" cy="18288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849624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Tuition &amp;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51392" y="384962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4105656"/>
            <a:ext cx="6031382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08736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Courses Offered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4854" y="408736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60320" y="4343400"/>
            <a:ext cx="5782665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325112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Scholarship Programs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6137" y="432511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581144"/>
            <a:ext cx="5907024" cy="182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562856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Enrollment Procedures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0496" y="4562856"/>
            <a:ext cx="457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B800"/>
                </a:solidFill>
                <a:latin typeface="Calibri"/>
              </a:rPr>
              <a:t>95%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CAF50"/>
                </a:solidFill>
                <a:latin typeface="Calibri"/>
              </a:rPr>
              <a:t>DIWA | Digital Interface Web Assistant  |  Confidential — May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Strategic Value to Cavite State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How DIWA supports the university's administrative and academic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50292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73152" cy="914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832103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Reduces Administrative Workload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124712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By handling repetitive student inquiries automatically, staff can focus on complex cases and high-value academic support activities.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801368"/>
            <a:ext cx="50292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801368"/>
            <a:ext cx="73152" cy="914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562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Improves Student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148840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Students get instant, consistent, and accurate answers — any time, any device. This directly supports student satisfaction and retention.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825496"/>
            <a:ext cx="50292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825496"/>
            <a:ext cx="73152" cy="914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8803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Zero Licensing Costs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72968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DIWA is entirely built in-house using open-source technology. There are no subscription fees, vendor contracts, or recurring software costs.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49624"/>
            <a:ext cx="5029200" cy="914400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849624"/>
            <a:ext cx="73152" cy="91440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904487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5C2A"/>
                </a:solidFill>
                <a:latin typeface="Trebuchet MS"/>
              </a:rPr>
              <a:t>Data-Driven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197096"/>
            <a:ext cx="47548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Automatic logging of every query gives management real insight into what students actually need — enabling smarter resource allocation.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777240"/>
            <a:ext cx="3429000" cy="4069080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23560" y="841248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1">
                <a:solidFill>
                  <a:srgbClr val="A5D6A7"/>
                </a:solidFill>
                <a:latin typeface="Calibri"/>
              </a:rPr>
              <a:t>Aligned With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1115568"/>
            <a:ext cx="31546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5B800"/>
                </a:solidFill>
                <a:latin typeface="Trebuchet MS"/>
              </a:rPr>
              <a:t>CvSU Mission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23560" y="1691640"/>
            <a:ext cx="31089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23560" y="182880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7922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Quality service delivery
to all CvSU stakeholders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514600"/>
            <a:ext cx="237744" cy="2377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24780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Technology-driven
academic excellence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60" y="320040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31638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Efficient use of
university resources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3886200"/>
            <a:ext cx="237744" cy="2377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3849624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"Iskolar para sa Bayan"
— accessible support for 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DIWA | Digital Interface Web Assistant  |  Confidential — May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82296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Trebuchet MS"/>
              </a:rPr>
              <a:t>Current Status — As of 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4632"/>
            <a:ext cx="8503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System is production-ready and awaiting formal university endorsement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49808"/>
            <a:ext cx="868680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1371600" cy="56692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768096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A5D6A7"/>
                </a:solidFill>
                <a:latin typeface="Calibri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5B800"/>
                </a:solidFill>
                <a:latin typeface="Calibri"/>
              </a:rPr>
              <a:t>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9072" y="841248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5C2A"/>
                </a:solidFill>
                <a:latin typeface="Calibri"/>
              </a:rPr>
              <a:t>DIWA is fully operational, tested, and deployable across CvSU. The development team has completed all core features and documentation.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444752"/>
            <a:ext cx="4206240" cy="3401568"/>
          </a:xfrm>
          <a:prstGeom prst="rect">
            <a:avLst/>
          </a:prstGeom>
          <a:solidFill>
            <a:srgbClr val="1A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99616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388620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97510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7510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56816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AI Model — 95.59% accuracy (Naive Bayes)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95728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39572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377440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REST API — 15+ functional endpoints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16352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1635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98064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Chat Logging — SQLite + daily backups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36976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23697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218688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Analytics Dashboard — real-time metrics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576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39312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Web Interface — responsive chat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78224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07822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059936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Docker Deployment — production-ready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98848"/>
            <a:ext cx="237744" cy="23774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49884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1A5C2A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4480560"/>
            <a:ext cx="363931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Full Technical Documentation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1444752"/>
            <a:ext cx="4206240" cy="3401568"/>
          </a:xfrm>
          <a:prstGeom prst="rect">
            <a:avLst/>
          </a:prstGeom>
          <a:solidFill>
            <a:srgbClr val="E8F5E9"/>
          </a:solidFill>
          <a:ln w="6350"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1499616"/>
            <a:ext cx="3931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2A"/>
                </a:solidFill>
                <a:latin typeface="Trebuchet MS"/>
              </a:rPr>
              <a:t>Planned Enhancements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1828800"/>
            <a:ext cx="379476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1920240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1938528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Neural Network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219456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Enhanced AI for complex queries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523744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74336" y="254203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50+ Intent Categories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79806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Expanded topic 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46320" y="3127248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74336" y="3145536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Admin Management Portal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74336" y="3401568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Faculty-managed responses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30752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74336" y="3749039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Filipino Language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74336" y="4005072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Serving more students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46320" y="4334256"/>
            <a:ext cx="54864" cy="50292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74336" y="435254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5C2A"/>
                </a:solidFill>
                <a:latin typeface="Trebuchet MS"/>
              </a:rPr>
              <a:t>Mobile Application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74336" y="4608576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PWA for student smartphones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9E9E9E"/>
                </a:solidFill>
                <a:latin typeface="Calibri"/>
              </a:rPr>
              <a:t>DIWA | Digital Interface Web Assistant  |  Confidential — May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5943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B800"/>
                </a:solidFill>
                <a:latin typeface="Trebuchet MS"/>
              </a:rPr>
              <a:t>Recommended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13232"/>
            <a:ext cx="5943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A5D6A7"/>
                </a:solidFill>
                <a:latin typeface="Calibri"/>
              </a:rPr>
              <a:t>Three steps to bring DIWA to every CvSU student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042415"/>
            <a:ext cx="566928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170432"/>
            <a:ext cx="5669280" cy="1115568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170432"/>
            <a:ext cx="658368" cy="11155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170432"/>
            <a:ext cx="65836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B800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28016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Endorse University-Wide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Grant formal approval to deploy DIWA as CvSU's official virtual assistant, accessible via the university website and student portals.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404872"/>
            <a:ext cx="5669280" cy="1115568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404872"/>
            <a:ext cx="658368" cy="11155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404872"/>
            <a:ext cx="65836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B800"/>
                </a:solidFill>
                <a:latin typeface="Trebuchet M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1460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Designate an IT Operations Owner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880360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Assign the ICTO or relevant IT unit as the operational custodian to manage uptime, updates, and ongoing model improvements.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639312"/>
            <a:ext cx="5669280" cy="1115568"/>
          </a:xfrm>
          <a:prstGeom prst="rect">
            <a:avLst/>
          </a:prstGeom>
          <a:solidFill>
            <a:srgbClr val="123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639312"/>
            <a:ext cx="658368" cy="11155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639312"/>
            <a:ext cx="658368" cy="1115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5B800"/>
                </a:solidFill>
                <a:latin typeface="Trebuchet M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4904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  <a:latin typeface="Trebuchet MS"/>
              </a:rPr>
              <a:t>Expand Institutional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14800"/>
            <a:ext cx="48006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Commission the team to expand DIWA's knowledge base to cover all colleges, departments, and administrative offices of CvSU.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70432"/>
            <a:ext cx="2606040" cy="3346704"/>
          </a:xfrm>
          <a:prstGeom prst="rect">
            <a:avLst/>
          </a:prstGeom>
          <a:solidFill>
            <a:srgbClr val="103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170432"/>
            <a:ext cx="36576" cy="3346704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1261872"/>
            <a:ext cx="23774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A5D6A7"/>
                </a:solidFill>
                <a:latin typeface="Calibri"/>
              </a:rPr>
              <a:t>Project Details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1572768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B800"/>
                </a:solidFill>
                <a:latin typeface="Trebuchet MS"/>
              </a:rPr>
              <a:t>DIWA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212848"/>
            <a:ext cx="2103120" cy="36576"/>
          </a:xfrm>
          <a:prstGeom prst="rect">
            <a:avLst/>
          </a:prstGeom>
          <a:solidFill>
            <a:srgbClr val="F5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2860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Digital Interface Web Assistant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57860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Cavite State University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87121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Development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12724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A5D6A7"/>
                </a:solidFill>
                <a:latin typeface="Calibri"/>
              </a:rPr>
              <a:t>May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43814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1">
                <a:solidFill>
                  <a:srgbClr val="A5D6A7"/>
                </a:solidFill>
                <a:latin typeface="Calibri"/>
              </a:rPr>
              <a:t>"Iskolar para sa Bayan!"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4CAF50"/>
                </a:solidFill>
                <a:latin typeface="Calibri"/>
              </a:rPr>
              <a:t>DIWA | Digital Interface Web Assistant  |  Confidential —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