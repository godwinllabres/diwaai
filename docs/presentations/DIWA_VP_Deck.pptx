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5D6A7"/>
                </a:solidFill>
                <a:latin typeface="Calibri"/>
              </a:rPr>
              <a:t>PRESENTED TO  ·  JOHN XAVIER B. NEPOMUCENO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F5B800"/>
                </a:solidFill>
                <a:latin typeface="Trebuchet MS"/>
              </a:rPr>
              <a:t>DIWA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10312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Trebuchet MS"/>
              </a:rPr>
              <a:t>Digital Interface Web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743200"/>
            <a:ext cx="502920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285292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456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5D6A7"/>
                </a:solidFill>
                <a:latin typeface="Calibri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285292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24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3456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5D6A7"/>
                </a:solidFill>
                <a:latin typeface="Calibri"/>
              </a:rPr>
              <a:t>Always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85292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3456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5D6A7"/>
                </a:solidFill>
                <a:latin typeface="Calibri"/>
              </a:rPr>
              <a:t>Licensing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6634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5D6A7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47472"/>
            <a:ext cx="3749039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5B800"/>
                </a:solidFill>
                <a:latin typeface="Trebuchet MS"/>
              </a:rPr>
              <a:t>THE
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64208"/>
            <a:ext cx="352044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792224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CvSU students have no way to get
instant answers outside office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834640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Staff spend hours every day answering
the same basic questions — repeatedly.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200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The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0233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64008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1042416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Student delays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408176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Late or wrong answers during enrollment
and application periods.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304288"/>
            <a:ext cx="64008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340864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Staff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706624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Valuable personnel tied up with FAQs
instead of meaningful student support.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602736"/>
            <a:ext cx="64008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3639312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No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4005072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Administration has zero visibility into
what students actually need.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5D6A7"/>
                </a:solidFill>
                <a:latin typeface="Calibri"/>
              </a:rPr>
              <a:t>DIWA  |  CvSU  |  Confidential  | 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Trebuchet MS"/>
              </a:rPr>
              <a:t>DIWA answers students instantly,
around the clock.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901952"/>
            <a:ext cx="822960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0"/>
            <a:ext cx="2743200" cy="28346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1488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B800"/>
                </a:solidFill>
                <a:latin typeface="Trebuchet MS"/>
              </a:rPr>
              <a:t>Instant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980944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Any question. Any time of day.
In under one second.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011680"/>
            <a:ext cx="2743200" cy="28346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2011680"/>
            <a:ext cx="2743200" cy="5486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1488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B800"/>
                </a:solidFill>
                <a:latin typeface="Trebuchet MS"/>
              </a:rPr>
              <a:t>Always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980944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office hours. No waiting.
DIWA never closes.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2743200" cy="28346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2743200" cy="5486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1488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B800"/>
                </a:solidFill>
                <a:latin typeface="Trebuchet MS"/>
              </a:rPr>
              <a:t>Built by CvSU.
Owned by CvSU.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980944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vendors. No subscriptions.
No recurring fees.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5D6A7"/>
                </a:solidFill>
                <a:latin typeface="Calibri"/>
              </a:rPr>
              <a:t>DIWA  |  CvSU  |  Confidential  | 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64592"/>
            <a:ext cx="3931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5B800"/>
                </a:solidFill>
                <a:latin typeface="Trebuchet MS"/>
              </a:rPr>
              <a:t>Production
Ready.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487168"/>
            <a:ext cx="3822191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606040"/>
            <a:ext cx="38221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As of May 2026, DIWA is fully built,
tested, and ready to serve every
CvSU student —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22860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What's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713232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7132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4064" y="694944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AI model — answers student questions accurately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133856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13385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1115568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Chat interface — works on any phone or computer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554480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55448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53619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Analytics — shows what students ask most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975104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9751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1956816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Full documentation — ready for IT handover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395728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39572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377440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Deployment — launches in minutes on any server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834640"/>
            <a:ext cx="39319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9077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What comes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291840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→  More topics covered across all colleges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712464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→  Filipino language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133088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→  Faculty-managed content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5D6A7"/>
                </a:solidFill>
                <a:latin typeface="Calibri"/>
              </a:rPr>
              <a:t>DIWA  |  CvSU  |  Confidential  | 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We need three things.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005840"/>
            <a:ext cx="850392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143000"/>
            <a:ext cx="713232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71323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5B800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1143000"/>
            <a:ext cx="7754112" cy="10058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1234440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B800"/>
                </a:solidFill>
                <a:latin typeface="Trebuchet MS"/>
              </a:rPr>
              <a:t>Approve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45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Give us the green light to launch DIWA on the CvSU website and student portal.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404872"/>
            <a:ext cx="713232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404872"/>
            <a:ext cx="71323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5B800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5568" y="2404872"/>
            <a:ext cx="7754112" cy="10058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49631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B800"/>
                </a:solidFill>
                <a:latin typeface="Trebuchet MS"/>
              </a:rPr>
              <a:t>Assign an IT owner.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907791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Point us to the right team to take over operations and keep DIWA running.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666744"/>
            <a:ext cx="713232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666744"/>
            <a:ext cx="71323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5B800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8" y="3666744"/>
            <a:ext cx="7754112" cy="10058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3758183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B800"/>
                </a:solidFill>
                <a:latin typeface="Trebuchet MS"/>
              </a:rPr>
              <a:t>Commission the expansion.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169663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Let us grow DIWA to cover every college and office across the university.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5D6A7"/>
                </a:solidFill>
                <a:latin typeface="Calibri"/>
              </a:rPr>
              <a:t>DIWA  |  CvSU  |  Confidential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