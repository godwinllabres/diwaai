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03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0"/>
            <a:ext cx="36576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 i="0">
                <a:solidFill>
                  <a:srgbClr val="F5B800"/>
                </a:solidFill>
                <a:latin typeface="Trebuchet MS"/>
              </a:rPr>
              <a:t>DIWA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Trebuchet MS"/>
              </a:rPr>
              <a:t>Digital Interface Web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07792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  <a:latin typeface="Calibri"/>
              </a:rPr>
              <a:t>An Intelligent Chatbot System for Cavite State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411480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097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5D6A7"/>
                </a:solidFill>
                <a:latin typeface="Calibri"/>
              </a:rPr>
              <a:t>Developed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630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B800"/>
                </a:solidFill>
                <a:latin typeface="Trebuchet MS"/>
              </a:rPr>
              <a:t>CvSU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03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Cavite State University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651760"/>
            <a:ext cx="1920240" cy="2743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5D6A7"/>
                </a:solidFill>
                <a:latin typeface="Calibri"/>
              </a:rPr>
              <a:t>"Iskolar para sa Bayan!"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63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1C784"/>
                </a:solidFill>
                <a:latin typeface="Calibri"/>
              </a:rPr>
              <a:t>May 2026  |  AI &amp; Web Development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What we will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2011680" cy="34747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2412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B800"/>
                </a:solidFill>
                <a:latin typeface="Trebuchet M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783080"/>
            <a:ext cx="15087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514600"/>
            <a:ext cx="179222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8E6C9"/>
                </a:solidFill>
                <a:latin typeface="Calibri"/>
              </a:rPr>
              <a:t>Problem statement, goals, and project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914400"/>
            <a:ext cx="2011680" cy="3474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02412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B800"/>
                </a:solidFill>
                <a:latin typeface="Trebuchet MS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783080"/>
            <a:ext cx="15087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87451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514600"/>
            <a:ext cx="179222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8E6C9"/>
                </a:solidFill>
                <a:latin typeface="Calibri"/>
              </a:rPr>
              <a:t>DIWA AI backend + DIWA Web frontend breakdown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914400"/>
            <a:ext cx="2011680" cy="34747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02412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B800"/>
                </a:solidFill>
                <a:latin typeface="Trebuchet MS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73168" y="1783080"/>
            <a:ext cx="15087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87451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Model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514600"/>
            <a:ext cx="179222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8E6C9"/>
                </a:solidFill>
                <a:latin typeface="Calibri"/>
              </a:rPr>
              <a:t>Accuracy metrics, speed, and training data stats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914400"/>
            <a:ext cx="2011680" cy="3474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59" y="102412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B800"/>
                </a:solidFill>
                <a:latin typeface="Trebuchet MS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22008" y="1783080"/>
            <a:ext cx="15087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187451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Features &amp;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514600"/>
            <a:ext cx="179222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8E6C9"/>
                </a:solidFill>
                <a:latin typeface="Calibri"/>
              </a:rPr>
              <a:t>API capabilities, UI walkthrough, and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DIWA | Digital Interface Web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What is DIWA and why it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4206240" cy="41148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The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6459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80744"/>
            <a:ext cx="256032" cy="25603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074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258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Students struggle to find quick answers
about admissions, fees &amp; enrollment.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93976"/>
            <a:ext cx="256032" cy="25603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9397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39112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Faculty and staff spend time repeatedly
answering the same common questions.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07208"/>
            <a:ext cx="256032" cy="25603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0720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52344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No centralized, 24/7 information system
exists for CvSU inquiries.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256032" cy="25603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65576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Manual processes slow down student
experience and university efficiency.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841248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  <a:latin typeface="Trebuchet MS"/>
              </a:rPr>
              <a:t>The Solution — DIWA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1234440"/>
            <a:ext cx="34747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3533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AI-Powered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162763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8E6C9"/>
                </a:solidFill>
                <a:latin typeface="Calibri"/>
              </a:rPr>
              <a:t>Naive Bayes intent classifier trained
on 227 CvSU-specific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0574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Always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3317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8E6C9"/>
                </a:solidFill>
                <a:latin typeface="Calibri"/>
              </a:rPr>
              <a:t>24/7 REST API with &lt;75ms response
time for instant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76148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Dual-System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03580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8E6C9"/>
                </a:solidFill>
                <a:latin typeface="Calibri"/>
              </a:rPr>
              <a:t>DIWA AI Python backend + DIWA Web
React/TypeScript 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46557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Production-Ready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73989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8E6C9"/>
                </a:solidFill>
                <a:latin typeface="Calibri"/>
              </a:rPr>
              <a:t>Docker deployment, SQLite logging,
and a real-time analytics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DIWA | Digital Interface Web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How DIWA AI and DIWA Web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3931920" cy="4069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B800"/>
                </a:solidFill>
                <a:latin typeface="Trebuchet MS"/>
              </a:rPr>
              <a:t>DIWA AI  | 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43584"/>
            <a:ext cx="3611880" cy="3200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0759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0876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REST API server · 15+ endpoints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0136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81051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Naive Bayes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01168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Intent classifier · 95.59%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0428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31343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Hybrid Chatbot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51460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NB + Neural Network fallback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0720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81635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SQLite Logger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01752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Async chat logging + JSON backups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1012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31927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52044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Containerised · production-ready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1304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822191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Python 3.11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02336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Core runtime environment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404872"/>
            <a:ext cx="91440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83480" y="2295144"/>
            <a:ext cx="219456" cy="256032"/>
          </a:xfrm>
          <a:prstGeom prst="round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248716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  <a:latin typeface="Calibri"/>
              </a:rPr>
              <a:t>HTTP / REST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777240"/>
            <a:ext cx="3886200" cy="4069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822960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B800"/>
                </a:solidFill>
                <a:latin typeface="Trebuchet MS"/>
              </a:rPr>
              <a:t>DIWA Web  |  Frontend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1243584"/>
            <a:ext cx="3566160" cy="3200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80" y="129844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76672" y="130759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React 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150876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Component-based UI framework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180136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76672" y="181051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TypeScript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6672" y="201168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Type-safe development · better DX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30428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6672" y="231343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Vite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251460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Lightning-fast build toolchain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280720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76672" y="281635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Tailwind CSS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76672" y="301752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Utility-first responsive styling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331012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76672" y="331927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Radix 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76672" y="352044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Accessible component primitives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12080" y="3813048"/>
            <a:ext cx="91440" cy="32918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76672" y="3822191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Recharts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76672" y="402336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Data visualisation for analytics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DIWA | Digital Interface Web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AI / ML Core — Naive Bayes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How DIWA understands and responds to student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4747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7101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Student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8132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Message received via REST API /chat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1848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76479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6479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77393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Text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98424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Tokenise, lowercase, remove stop words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12140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26771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2677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27685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TF-IDF Vectorise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48716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Convert text to feature vector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2432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77063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770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77977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NB Classification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99008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Predict intent with 95.59%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12724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27355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2735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28269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Response Lookup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49300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Match intent → curated response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63016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3776472"/>
            <a:ext cx="347472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776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785615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Return 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99592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JSON response in &lt;75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777240"/>
            <a:ext cx="4251960" cy="41148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822960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  <a:latin typeface="Trebuchet MS"/>
              </a:rPr>
              <a:t>Training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1188720"/>
            <a:ext cx="3749039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46320" y="1280160"/>
            <a:ext cx="3886200" cy="566928"/>
          </a:xfrm>
          <a:prstGeom prst="rect">
            <a:avLst/>
          </a:prstGeom>
          <a:solidFill>
            <a:srgbClr val="14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130759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227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142646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Training Patterns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1938528"/>
            <a:ext cx="3886200" cy="566928"/>
          </a:xfrm>
          <a:prstGeom prst="rect">
            <a:avLst/>
          </a:prstGeom>
          <a:solidFill>
            <a:srgbClr val="14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19659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0848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Intent Categories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2596896"/>
            <a:ext cx="3886200" cy="566928"/>
          </a:xfrm>
          <a:prstGeom prst="rect">
            <a:avLst/>
          </a:prstGeom>
          <a:solidFill>
            <a:srgbClr val="14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2040" y="2624327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79 KB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43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Model File Size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3255264"/>
            <a:ext cx="3886200" cy="566928"/>
          </a:xfrm>
          <a:prstGeom prst="rect">
            <a:avLst/>
          </a:prstGeom>
          <a:solidFill>
            <a:srgbClr val="14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3282696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8 sec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34015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Training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4315968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A5D6A7"/>
                </a:solidFill>
                <a:latin typeface="Calibri"/>
              </a:rPr>
              <a:t>Model: CvSU_classifier.pkl  |  Responses: responses_map.json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DIWA | Digital Interface Web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B800"/>
                </a:solidFill>
                <a:latin typeface="Trebuchet MS"/>
              </a:rP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412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  <a:latin typeface="Calibri"/>
              </a:rPr>
              <a:t>Production-ready metrics for the Naive Bayes intent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841248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2011680" cy="17373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1828800" cy="9555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95.59%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96388"/>
            <a:ext cx="1828800" cy="660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  <a:latin typeface="Calibri"/>
              </a:rPr>
              <a:t>Training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7168" y="1188720"/>
            <a:ext cx="2011680" cy="17373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1261872"/>
            <a:ext cx="1828800" cy="9555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&lt;75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196388"/>
            <a:ext cx="1828800" cy="660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  <a:latin typeface="Calibri"/>
              </a:rPr>
              <a:t>Response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45736" y="1188720"/>
            <a:ext cx="2011680" cy="17373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261872"/>
            <a:ext cx="1828800" cy="9555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196388"/>
            <a:ext cx="1828800" cy="660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  <a:latin typeface="Calibri"/>
              </a:rPr>
              <a:t>Intent Categories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4304" y="1188720"/>
            <a:ext cx="2011680" cy="17373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95744" y="1261872"/>
            <a:ext cx="1828800" cy="9555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227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2196388"/>
            <a:ext cx="1828800" cy="660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  <a:latin typeface="Calibri"/>
              </a:rPr>
              <a:t>Training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429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Intent Accuracy Highlights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849624"/>
            <a:ext cx="5029200" cy="155448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822191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Admissions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82219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050791"/>
            <a:ext cx="5029200" cy="155448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23359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Tuition Fees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02335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251960"/>
            <a:ext cx="4878324" cy="1554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2452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Courses Offered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7244" y="4224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453128"/>
            <a:ext cx="4777740" cy="1554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42569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Greeting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6660" y="442569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654296"/>
            <a:ext cx="4677156" cy="1554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62686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Scholarship Info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6076" y="462686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  <a:latin typeface="Calibri"/>
              </a:rPr>
              <a:t>DIWA | Digital Interface Web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What DIWA brings to Cavite State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859536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5953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Naive Bayes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52728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Fast, lightweight intent classification with 95.59% accuracy on CvSU-specific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749808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64408" y="859536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868680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85953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15+ REST API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1252728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Full FastAPI backend with /chat, /health, /logs, and Swagger UI documentation.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749808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72200" y="859536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868680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85953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Chat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252728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Async logging to SQLite with daily JSON backups. Never lose a student query.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514600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5760" y="2624328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33472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DSH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6243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Analytics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01752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Real-time web dashboard showing query trends, top intents, and system health.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27248" y="2514600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64408" y="2624328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64408" y="2633472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26243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Web Chat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4408" y="301752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Responsive chat UI (DIWA Web) built with React 18 + TypeScript + Tailwind CSS.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514600"/>
            <a:ext cx="2743200" cy="16002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72200" y="2624328"/>
            <a:ext cx="384048" cy="38404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633472"/>
            <a:ext cx="38404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00"/>
                </a:solidFill>
                <a:latin typeface="Calibri"/>
              </a:rPr>
              <a:t>DOC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6243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Docker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01752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One-command docker-compose deployment for production environments.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DIWA | Digital Interface Web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REST API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15+ endpoints powering DIWA's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5029200" cy="41605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Core API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466344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43584"/>
            <a:ext cx="658368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43584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252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128016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Send message, get AI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18488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1848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16276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1655064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System health 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93392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93392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200253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/logs/today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2029968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Today's query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68296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6829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2377439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/logs/history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24048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Full chat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43200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4320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275234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/logs/stats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2779776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Aggregate intent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118104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118104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31272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/intents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31546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List all 23 intent categories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493008"/>
            <a:ext cx="658368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49300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35021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/train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3529584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Trigger model retraining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67911"/>
            <a:ext cx="658368" cy="274320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867911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3D14"/>
                </a:solidFill>
                <a:latin typeface="Calibri"/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3877055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7168" y="3904487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5D6A7"/>
                </a:solidFill>
                <a:latin typeface="Calibri"/>
              </a:rPr>
              <a:t>Swagger UI documentation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749808"/>
            <a:ext cx="3429000" cy="416052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23560" y="804672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Trebuchet MS"/>
              </a:rPr>
              <a:t>Built With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1170432"/>
            <a:ext cx="30175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23560" y="1234440"/>
            <a:ext cx="73152" cy="4114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12344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FastAPI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149047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Async Python framework for
high-performance APIs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23560" y="1819656"/>
            <a:ext cx="73152" cy="4114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18196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Swagger UI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207568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Auto-generated interactive
API documentation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23560" y="2404872"/>
            <a:ext cx="73152" cy="4114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0" y="24048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Pydantic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266090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Request/response validation
and type enforcement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23560" y="2990088"/>
            <a:ext cx="73152" cy="4114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0" y="299008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Uvicorn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324612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ASGI server for production
deployment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23560" y="3575304"/>
            <a:ext cx="73152" cy="4114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0" y="35753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SQLite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383133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Async chat log storage
with daily JSON export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DIWA | Digital Interface Web Assistant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DIWA Web — Frontend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React + TypeScript web application for students and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React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Component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9888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6464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Type 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5456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Build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1024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Tailwind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Styling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36592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Radix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Components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59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8736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Recharts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8736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Charts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67728" y="1005840"/>
            <a:ext cx="1051560" cy="4754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4304" y="1024128"/>
            <a:ext cx="9784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B800"/>
                </a:solidFill>
                <a:latin typeface="Trebuchet MS"/>
              </a:rPr>
              <a:t>Vitest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1243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5D6A7"/>
                </a:solidFill>
                <a:latin typeface="Calibri"/>
              </a:rPr>
              <a:t>Testing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1627632"/>
            <a:ext cx="868680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1691640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Trebuchet MS"/>
              </a:rPr>
              <a:t>Interface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084831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2084831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15798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Chat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" y="2468879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Real-time chat interface for interacting with DIWA's AI backend via REST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383279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3383279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34564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Logs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3767328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Analytics view with query trends, intent distribution, and response time graphs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2084831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27248" y="2084831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215798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Responsive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2468879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Mobile-first layout using Tailwind CSS — works on any device or screen size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27248" y="3383279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27248" y="3383279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34564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Dark/Light Theme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3767328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Theme switching powered by next-themes for user comfort and accessibility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084831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2084831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9631" y="215798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Type-Safe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1" y="2468879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All backend calls typed end-to-end with TypeScript + Zod validation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383279"/>
            <a:ext cx="274320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35040" y="3383279"/>
            <a:ext cx="73152" cy="117043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1" y="34564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Test Coverage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9631" y="3767328"/>
            <a:ext cx="24688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Vitest unit tests with @testing-library/react for component reliability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DIWA | Digital Interface Web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Deployment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How to run DIWA in production or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4251960" cy="3200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Option A — Docker (Recommended)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5D6A7"/>
                </a:solidFill>
                <a:latin typeface="Calibri"/>
              </a:rPr>
              <a:t>Single command to spin up the full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81328"/>
            <a:ext cx="3749039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27632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2763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57276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docker-compose -f deployment/docker-compose.yml up -d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4825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4825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99339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Open http://localhost:8000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6888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6888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4140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Visit /docs for Swagger API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88950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88950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83464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Chat UI available at web/web_interface.html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749808"/>
            <a:ext cx="425196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80467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Option B — Local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11887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5D6A7"/>
                </a:solidFill>
                <a:latin typeface="Calibri"/>
              </a:rPr>
              <a:t>Run API and frontend separately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1481328"/>
            <a:ext cx="3749039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3480" y="1627632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162763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157276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pip install -r deployment/requirements_minimal.txt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204825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204825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199339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python -m uvicorn api.app:app --port 8000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246888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246888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24140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cd DIWA Web &amp;&amp; npm install &amp;&amp; npm run dev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88950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288950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76088" y="283464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Open http://localhost:5173 (Vite dev server)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005072"/>
            <a:ext cx="868680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050791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Monitoring &amp; Ops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370832"/>
            <a:ext cx="21031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" y="439826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5C2A"/>
                </a:solidFill>
                <a:latin typeface="Trebuchet MS"/>
              </a:rPr>
              <a:t>Chat Logs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" y="462686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SQLite DB + JSON daily backups · /logs/today endpoint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41448" y="4370832"/>
            <a:ext cx="21031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51176" y="439826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5C2A"/>
                </a:solidFill>
                <a:latin typeface="Trebuchet MS"/>
              </a:rPr>
              <a:t>Health Check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51176" y="462686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GET /health returns system status + model load time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54296" y="4370832"/>
            <a:ext cx="21031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64024" y="439826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5C2A"/>
                </a:solidFill>
                <a:latin typeface="Trebuchet MS"/>
              </a:rPr>
              <a:t>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4024" y="462686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logs_dashboard.html · real-time intent &amp; query metrics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67144" y="4370832"/>
            <a:ext cx="21031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76872" y="439826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5C2A"/>
                </a:solidFill>
                <a:latin typeface="Trebuchet MS"/>
              </a:rPr>
              <a:t>Retraining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76872" y="462686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python training/train_naive_bayes.py  (8 seconds)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DIWA | Digital Interface Web Assistant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Roadmap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What's done and what comes next for DIWA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4069080" cy="41605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  <a:latin typeface="Trebuchet MS"/>
              </a:rPr>
              <a:t>✅ 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7033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1673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8016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Naive Bayes model — 95.59%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700784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REST API — 15+ endpoints (FastAPI)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5798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5798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121408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Chat Logging — SQLite + JSON backups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78608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57860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542032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Analytics Dashboard — real-time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99232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9923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962656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Web UI — DIWA Web (React + TypeScript)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1985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41985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38328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Docker — production-ready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4048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4048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803904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Comprehensive documentation &amp; guides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749808"/>
            <a:ext cx="4389120" cy="4160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80467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  <a:latin typeface="Trebuchet MS"/>
              </a:rPr>
              <a:t>🔜  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188720"/>
            <a:ext cx="40233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1261872"/>
            <a:ext cx="73152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1271016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Neural Network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1456" y="1517904"/>
            <a:ext cx="397763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E6C9"/>
                </a:solidFill>
                <a:latin typeface="Calibri"/>
              </a:rPr>
              <a:t>Hybrid NB + NN classifier when TensorFlow
supports Python 3.11+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1856231"/>
            <a:ext cx="73152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1456" y="1865375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Expanded Intent Coverage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1456" y="2112263"/>
            <a:ext cx="397763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E6C9"/>
                </a:solidFill>
                <a:latin typeface="Calibri"/>
              </a:rPr>
              <a:t>Grow from 23 → 50+ intent categories for
broader university topics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450591"/>
            <a:ext cx="73152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91456" y="2459735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Admin Portal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1456" y="2706624"/>
            <a:ext cx="397763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E6C9"/>
                </a:solidFill>
                <a:latin typeface="Calibri"/>
              </a:rPr>
              <a:t>Web dashboard for faculty to manage
intents and view analytics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3044952"/>
            <a:ext cx="73152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91456" y="3054096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Multilingual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1456" y="3300984"/>
            <a:ext cx="397763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E6C9"/>
                </a:solidFill>
                <a:latin typeface="Calibri"/>
              </a:rPr>
              <a:t>Add Filipino (Tagalog) language support
for broader student reach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3639312"/>
            <a:ext cx="73152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91456" y="3648456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Mobile App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91456" y="3895344"/>
            <a:ext cx="397763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8E6C9"/>
                </a:solidFill>
                <a:latin typeface="Calibri"/>
              </a:rPr>
              <a:t>React Native or PWA version for
student smartphones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E9E9E"/>
                </a:solidFill>
                <a:latin typeface="Calibri"/>
              </a:rPr>
              <a:t>DIWA | Digital Interface Web Assistant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03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0"/>
            <a:ext cx="36576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5B800"/>
                </a:solidFill>
                <a:latin typeface="Trebuchet MS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411480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Trebuchet M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  <a:latin typeface="Calibri"/>
              </a:rPr>
              <a:t>We're excited to hear your feedback and answer any questions
about DIWA – Digital Interface Web Assistant.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00400"/>
            <a:ext cx="1234440" cy="86868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43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5B800"/>
                </a:solidFill>
                <a:latin typeface="Trebuchet MS"/>
              </a:rPr>
              <a:t>95.59%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9417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8" y="3200400"/>
            <a:ext cx="1234440" cy="86868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8528" y="3236976"/>
            <a:ext cx="1143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B800"/>
                </a:solidFill>
                <a:latin typeface="Trebuchet MS"/>
              </a:rPr>
              <a:t>&lt;75ms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369417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3200400"/>
            <a:ext cx="1234440" cy="86868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5" y="3236976"/>
            <a:ext cx="1143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B800"/>
                </a:solidFill>
                <a:latin typeface="Trebuchet MS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5" y="369417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Intents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2584" y="3200400"/>
            <a:ext cx="1234440" cy="86868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3236976"/>
            <a:ext cx="1143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B800"/>
                </a:solidFill>
                <a:latin typeface="Trebuchet MS"/>
              </a:rPr>
              <a:t>15+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369417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5943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1C784"/>
                </a:solidFill>
                <a:latin typeface="Calibri"/>
              </a:rPr>
              <a:t>DIWA | Digital Interface Web Assistant  |  May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00584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5D6A7"/>
                </a:solidFill>
                <a:latin typeface="Calibri"/>
              </a:rPr>
              <a:t>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32588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5B800"/>
                </a:solidFill>
                <a:latin typeface="Trebuchet MS"/>
              </a:rPr>
              <a:t>DIWA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2029968"/>
            <a:ext cx="192024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1031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Digital Interface Web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52374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Calibri"/>
              </a:rPr>
              <a:t>Cavite State University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88036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5D6A7"/>
                </a:solidFill>
                <a:latin typeface="Calibri"/>
              </a:rPr>
              <a:t>"Iskolar para sa Bayan!"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